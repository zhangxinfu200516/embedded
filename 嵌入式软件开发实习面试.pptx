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59" r:id="rId7"/>
    <p:sldId id="260" r:id="rId8"/>
    <p:sldId id="261" r:id="rId9"/>
    <p:sldId id="277" r:id="rId10"/>
    <p:sldId id="263" r:id="rId11"/>
    <p:sldId id="279" r:id="rId12"/>
    <p:sldId id="265" r:id="rId13"/>
    <p:sldId id="266" r:id="rId14"/>
    <p:sldId id="267" r:id="rId15"/>
    <p:sldId id="281" r:id="rId16"/>
    <p:sldId id="268" r:id="rId17"/>
    <p:sldId id="282" r:id="rId18"/>
    <p:sldId id="283" r:id="rId19"/>
    <p:sldId id="284" r:id="rId20"/>
    <p:sldId id="285" r:id="rId21"/>
    <p:sldId id="272" r:id="rId22"/>
    <p:sldId id="273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5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>
            <a:alpha val="100000"/>
            <a:lumMod val="9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2700" y="-12700"/>
            <a:ext cx="12192001" cy="6858001"/>
            <a:chOff x="-12700" y="-12700"/>
            <a:chExt cx="12192001" cy="6858001"/>
          </a:xfrm>
        </p:grpSpPr>
        <p:grpSp>
          <p:nvGrpSpPr>
            <p:cNvPr id="3" name="Group 3"/>
            <p:cNvGrpSpPr/>
            <p:nvPr/>
          </p:nvGrpSpPr>
          <p:grpSpPr>
            <a:xfrm rot="0">
              <a:off x="-12700" y="-12700"/>
              <a:ext cx="12192001" cy="6858001"/>
              <a:chOff x="-12700" y="-12700"/>
              <a:chExt cx="12192001" cy="6858001"/>
            </a:xfrm>
          </p:grpSpPr>
          <p:sp>
            <p:nvSpPr>
              <p:cNvPr id="4" name="AutoShape 4"/>
              <p:cNvSpPr/>
              <p:nvPr/>
            </p:nvSpPr>
            <p:spPr>
              <a:xfrm flipH="1" flipV="1">
                <a:off x="-12700" y="-12700"/>
                <a:ext cx="4551827" cy="1080000"/>
              </a:xfrm>
              <a:custGeom>
                <a:avLst/>
                <a:gdLst/>
                <a:ahLst/>
                <a:cxnLst/>
                <a:rect l="l" t="t" r="r" b="b"/>
                <a:pathLst>
                  <a:path w="3482177" h="826207">
                    <a:moveTo>
                      <a:pt x="1126933" y="0"/>
                    </a:moveTo>
                    <a:lnTo>
                      <a:pt x="3482177" y="0"/>
                    </a:lnTo>
                    <a:lnTo>
                      <a:pt x="3482177" y="826207"/>
                    </a:lnTo>
                    <a:lnTo>
                      <a:pt x="0" y="826207"/>
                    </a:lnTo>
                    <a:lnTo>
                      <a:pt x="73380" y="800570"/>
                    </a:lnTo>
                    <a:cubicBezTo>
                      <a:pt x="163870" y="757154"/>
                      <a:pt x="244745" y="693644"/>
                      <a:pt x="309246" y="613266"/>
                    </a:cubicBezTo>
                    <a:lnTo>
                      <a:pt x="597519" y="254038"/>
                    </a:lnTo>
                    <a:cubicBezTo>
                      <a:pt x="726524" y="93280"/>
                      <a:pt x="921022" y="0"/>
                      <a:pt x="1126933" y="0"/>
                    </a:cubicBezTo>
                    <a:close/>
                  </a:path>
                </a:pathLst>
              </a:custGeom>
              <a:solidFill>
                <a:srgbClr val="005CB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" name="AutoShape 5"/>
              <p:cNvSpPr/>
              <p:nvPr/>
            </p:nvSpPr>
            <p:spPr>
              <a:xfrm>
                <a:off x="660400" y="693000"/>
                <a:ext cx="10872000" cy="5472000"/>
              </a:xfrm>
              <a:prstGeom prst="roundRect">
                <a:avLst>
                  <a:gd name="adj" fmla="val 2916"/>
                </a:avLst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AutoShape 6"/>
              <p:cNvSpPr/>
              <p:nvPr/>
            </p:nvSpPr>
            <p:spPr>
              <a:xfrm>
                <a:off x="7943629" y="5850000"/>
                <a:ext cx="4248371" cy="1008000"/>
              </a:xfrm>
              <a:custGeom>
                <a:avLst/>
                <a:gdLst/>
                <a:ahLst/>
                <a:cxnLst/>
                <a:rect l="l" t="t" r="r" b="b"/>
                <a:pathLst>
                  <a:path w="3482177" h="826207">
                    <a:moveTo>
                      <a:pt x="1126933" y="0"/>
                    </a:moveTo>
                    <a:lnTo>
                      <a:pt x="3482177" y="0"/>
                    </a:lnTo>
                    <a:lnTo>
                      <a:pt x="3482177" y="826207"/>
                    </a:lnTo>
                    <a:lnTo>
                      <a:pt x="0" y="826207"/>
                    </a:lnTo>
                    <a:lnTo>
                      <a:pt x="73380" y="800570"/>
                    </a:lnTo>
                    <a:cubicBezTo>
                      <a:pt x="163870" y="757154"/>
                      <a:pt x="244745" y="693644"/>
                      <a:pt x="309246" y="613266"/>
                    </a:cubicBezTo>
                    <a:lnTo>
                      <a:pt x="597519" y="254038"/>
                    </a:lnTo>
                    <a:cubicBezTo>
                      <a:pt x="726524" y="93280"/>
                      <a:pt x="921022" y="0"/>
                      <a:pt x="1126933" y="0"/>
                    </a:cubicBezTo>
                    <a:close/>
                  </a:path>
                </a:pathLst>
              </a:custGeom>
              <a:solidFill>
                <a:srgbClr val="005CB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7" name="Group 7"/>
            <p:cNvGrpSpPr/>
            <p:nvPr/>
          </p:nvGrpSpPr>
          <p:grpSpPr>
            <a:xfrm rot="0">
              <a:off x="6432918" y="4634414"/>
              <a:ext cx="540000" cy="540000"/>
              <a:chOff x="7460376" y="5269978"/>
              <a:chExt cx="540000" cy="540000"/>
            </a:xfrm>
          </p:grpSpPr>
          <p:sp>
            <p:nvSpPr>
              <p:cNvPr id="8" name="AutoShape 8"/>
              <p:cNvSpPr/>
              <p:nvPr/>
            </p:nvSpPr>
            <p:spPr>
              <a:xfrm>
                <a:off x="7460376" y="5269978"/>
                <a:ext cx="540000" cy="540000"/>
              </a:xfrm>
              <a:prstGeom prst="ellipse">
                <a:avLst/>
              </a:prstGeom>
              <a:solidFill>
                <a:srgbClr val="005CB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9" name="AutoShape 9"/>
              <p:cNvSpPr/>
              <p:nvPr/>
            </p:nvSpPr>
            <p:spPr>
              <a:xfrm>
                <a:off x="7586376" y="5429743"/>
                <a:ext cx="288000" cy="220470"/>
              </a:xfrm>
              <a:custGeom>
                <a:avLst/>
                <a:gdLst/>
                <a:ahLst/>
                <a:cxnLst/>
                <a:rect l="l" t="t" r="r" b="b"/>
                <a:pathLst>
                  <a:path w="608415" h="465755">
                    <a:moveTo>
                      <a:pt x="20136" y="282073"/>
                    </a:moveTo>
                    <a:cubicBezTo>
                      <a:pt x="31229" y="282073"/>
                      <a:pt x="40152" y="290985"/>
                      <a:pt x="40152" y="302063"/>
                    </a:cubicBezTo>
                    <a:lnTo>
                      <a:pt x="40152" y="326389"/>
                    </a:lnTo>
                    <a:cubicBezTo>
                      <a:pt x="40152" y="337468"/>
                      <a:pt x="31229" y="346499"/>
                      <a:pt x="20136" y="346499"/>
                    </a:cubicBezTo>
                    <a:cubicBezTo>
                      <a:pt x="9043" y="346499"/>
                      <a:pt x="0" y="337468"/>
                      <a:pt x="0" y="326389"/>
                    </a:cubicBezTo>
                    <a:lnTo>
                      <a:pt x="0" y="302063"/>
                    </a:lnTo>
                    <a:cubicBezTo>
                      <a:pt x="0" y="290985"/>
                      <a:pt x="9043" y="282073"/>
                      <a:pt x="20136" y="282073"/>
                    </a:cubicBezTo>
                    <a:close/>
                    <a:moveTo>
                      <a:pt x="123517" y="243643"/>
                    </a:moveTo>
                    <a:lnTo>
                      <a:pt x="123517" y="374935"/>
                    </a:lnTo>
                    <a:cubicBezTo>
                      <a:pt x="136906" y="387703"/>
                      <a:pt x="186360" y="425645"/>
                      <a:pt x="304208" y="425645"/>
                    </a:cubicBezTo>
                    <a:cubicBezTo>
                      <a:pt x="422055" y="425645"/>
                      <a:pt x="471510" y="387703"/>
                      <a:pt x="484899" y="374935"/>
                    </a:cubicBezTo>
                    <a:lnTo>
                      <a:pt x="484899" y="243643"/>
                    </a:lnTo>
                    <a:lnTo>
                      <a:pt x="313495" y="332536"/>
                    </a:lnTo>
                    <a:cubicBezTo>
                      <a:pt x="310601" y="333981"/>
                      <a:pt x="307344" y="334704"/>
                      <a:pt x="304208" y="334704"/>
                    </a:cubicBezTo>
                    <a:cubicBezTo>
                      <a:pt x="301071" y="334704"/>
                      <a:pt x="297815" y="333981"/>
                      <a:pt x="294920" y="332536"/>
                    </a:cubicBezTo>
                    <a:close/>
                    <a:moveTo>
                      <a:pt x="304208" y="42730"/>
                    </a:moveTo>
                    <a:lnTo>
                      <a:pt x="63688" y="167397"/>
                    </a:lnTo>
                    <a:lnTo>
                      <a:pt x="304208" y="292064"/>
                    </a:lnTo>
                    <a:lnTo>
                      <a:pt x="544727" y="167397"/>
                    </a:lnTo>
                    <a:close/>
                    <a:moveTo>
                      <a:pt x="294920" y="2258"/>
                    </a:moveTo>
                    <a:cubicBezTo>
                      <a:pt x="300710" y="-753"/>
                      <a:pt x="307706" y="-753"/>
                      <a:pt x="313495" y="2258"/>
                    </a:cubicBezTo>
                    <a:lnTo>
                      <a:pt x="597559" y="149570"/>
                    </a:lnTo>
                    <a:cubicBezTo>
                      <a:pt x="604193" y="153063"/>
                      <a:pt x="608415" y="159929"/>
                      <a:pt x="608415" y="167397"/>
                    </a:cubicBezTo>
                    <a:cubicBezTo>
                      <a:pt x="608415" y="174865"/>
                      <a:pt x="604193" y="181731"/>
                      <a:pt x="597559" y="185224"/>
                    </a:cubicBezTo>
                    <a:lnTo>
                      <a:pt x="525066" y="222804"/>
                    </a:lnTo>
                    <a:lnTo>
                      <a:pt x="525066" y="382644"/>
                    </a:lnTo>
                    <a:cubicBezTo>
                      <a:pt x="525066" y="386860"/>
                      <a:pt x="523859" y="390955"/>
                      <a:pt x="521326" y="394328"/>
                    </a:cubicBezTo>
                    <a:cubicBezTo>
                      <a:pt x="519276" y="397218"/>
                      <a:pt x="468253" y="465755"/>
                      <a:pt x="304208" y="465755"/>
                    </a:cubicBezTo>
                    <a:cubicBezTo>
                      <a:pt x="140162" y="465755"/>
                      <a:pt x="89139" y="397218"/>
                      <a:pt x="87089" y="394328"/>
                    </a:cubicBezTo>
                    <a:cubicBezTo>
                      <a:pt x="84556" y="390955"/>
                      <a:pt x="83350" y="386860"/>
                      <a:pt x="83350" y="382644"/>
                    </a:cubicBezTo>
                    <a:lnTo>
                      <a:pt x="83350" y="222804"/>
                    </a:lnTo>
                    <a:lnTo>
                      <a:pt x="40167" y="200400"/>
                    </a:lnTo>
                    <a:lnTo>
                      <a:pt x="40167" y="244245"/>
                    </a:lnTo>
                    <a:cubicBezTo>
                      <a:pt x="40167" y="255326"/>
                      <a:pt x="31241" y="264360"/>
                      <a:pt x="20144" y="264360"/>
                    </a:cubicBezTo>
                    <a:cubicBezTo>
                      <a:pt x="9047" y="264360"/>
                      <a:pt x="0" y="255326"/>
                      <a:pt x="0" y="244245"/>
                    </a:cubicBezTo>
                    <a:lnTo>
                      <a:pt x="0" y="167397"/>
                    </a:lnTo>
                    <a:cubicBezTo>
                      <a:pt x="0" y="159929"/>
                      <a:pt x="4222" y="153063"/>
                      <a:pt x="10856" y="14957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10" name="Group 10"/>
            <p:cNvGrpSpPr/>
            <p:nvPr/>
          </p:nvGrpSpPr>
          <p:grpSpPr>
            <a:xfrm rot="0">
              <a:off x="3073375" y="4634414"/>
              <a:ext cx="540000" cy="540000"/>
              <a:chOff x="4437200" y="5269978"/>
              <a:chExt cx="540000" cy="540000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4437200" y="5269978"/>
                <a:ext cx="540000" cy="540000"/>
              </a:xfrm>
              <a:prstGeom prst="ellipse">
                <a:avLst/>
              </a:prstGeom>
              <a:solidFill>
                <a:srgbClr val="005CB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AutoShape 12"/>
              <p:cNvSpPr/>
              <p:nvPr/>
            </p:nvSpPr>
            <p:spPr>
              <a:xfrm>
                <a:off x="4593936" y="5426880"/>
                <a:ext cx="226528" cy="226197"/>
              </a:xfrm>
              <a:custGeom>
                <a:avLst/>
                <a:gdLst/>
                <a:ahLst/>
                <a:cxnLst/>
                <a:rect l="l" t="t" r="r" b="b"/>
                <a:pathLst>
                  <a:path w="581459" h="580612">
                    <a:moveTo>
                      <a:pt x="283975" y="371116"/>
                    </a:moveTo>
                    <a:lnTo>
                      <a:pt x="263239" y="486746"/>
                    </a:lnTo>
                    <a:lnTo>
                      <a:pt x="291629" y="500700"/>
                    </a:lnTo>
                    <a:lnTo>
                      <a:pt x="318507" y="487013"/>
                    </a:lnTo>
                    <a:lnTo>
                      <a:pt x="297770" y="371116"/>
                    </a:lnTo>
                    <a:close/>
                    <a:moveTo>
                      <a:pt x="263595" y="322766"/>
                    </a:moveTo>
                    <a:lnTo>
                      <a:pt x="317973" y="322766"/>
                    </a:lnTo>
                    <a:cubicBezTo>
                      <a:pt x="329720" y="322766"/>
                      <a:pt x="339777" y="331121"/>
                      <a:pt x="341824" y="342675"/>
                    </a:cubicBezTo>
                    <a:lnTo>
                      <a:pt x="369235" y="496078"/>
                    </a:lnTo>
                    <a:cubicBezTo>
                      <a:pt x="371104" y="506655"/>
                      <a:pt x="365853" y="517054"/>
                      <a:pt x="356420" y="521942"/>
                    </a:cubicBezTo>
                    <a:lnTo>
                      <a:pt x="302754" y="549405"/>
                    </a:lnTo>
                    <a:cubicBezTo>
                      <a:pt x="294833" y="553938"/>
                      <a:pt x="289226" y="553494"/>
                      <a:pt x="280949" y="549583"/>
                    </a:cubicBezTo>
                    <a:lnTo>
                      <a:pt x="225237" y="522031"/>
                    </a:lnTo>
                    <a:cubicBezTo>
                      <a:pt x="215625" y="517320"/>
                      <a:pt x="210285" y="506655"/>
                      <a:pt x="212243" y="496078"/>
                    </a:cubicBezTo>
                    <a:lnTo>
                      <a:pt x="239744" y="342675"/>
                    </a:lnTo>
                    <a:cubicBezTo>
                      <a:pt x="241790" y="331121"/>
                      <a:pt x="251847" y="322766"/>
                      <a:pt x="263595" y="322766"/>
                    </a:cubicBezTo>
                    <a:close/>
                    <a:moveTo>
                      <a:pt x="175403" y="294638"/>
                    </a:moveTo>
                    <a:cubicBezTo>
                      <a:pt x="181311" y="296493"/>
                      <a:pt x="186518" y="300581"/>
                      <a:pt x="189588" y="306446"/>
                    </a:cubicBezTo>
                    <a:cubicBezTo>
                      <a:pt x="195819" y="318266"/>
                      <a:pt x="191279" y="332930"/>
                      <a:pt x="179441" y="339151"/>
                    </a:cubicBezTo>
                    <a:cubicBezTo>
                      <a:pt x="98621" y="381453"/>
                      <a:pt x="48420" y="464725"/>
                      <a:pt x="48420" y="556439"/>
                    </a:cubicBezTo>
                    <a:cubicBezTo>
                      <a:pt x="48420" y="569859"/>
                      <a:pt x="37561" y="580612"/>
                      <a:pt x="24210" y="580612"/>
                    </a:cubicBezTo>
                    <a:cubicBezTo>
                      <a:pt x="10770" y="580612"/>
                      <a:pt x="0" y="569859"/>
                      <a:pt x="0" y="556439"/>
                    </a:cubicBezTo>
                    <a:cubicBezTo>
                      <a:pt x="0" y="446595"/>
                      <a:pt x="60170" y="346971"/>
                      <a:pt x="157011" y="296226"/>
                    </a:cubicBezTo>
                    <a:cubicBezTo>
                      <a:pt x="162886" y="293160"/>
                      <a:pt x="169495" y="292782"/>
                      <a:pt x="175403" y="294638"/>
                    </a:cubicBezTo>
                    <a:close/>
                    <a:moveTo>
                      <a:pt x="403384" y="293390"/>
                    </a:moveTo>
                    <a:cubicBezTo>
                      <a:pt x="409291" y="291490"/>
                      <a:pt x="415922" y="291846"/>
                      <a:pt x="421885" y="294868"/>
                    </a:cubicBezTo>
                    <a:cubicBezTo>
                      <a:pt x="520228" y="344995"/>
                      <a:pt x="581459" y="445250"/>
                      <a:pt x="581459" y="556437"/>
                    </a:cubicBezTo>
                    <a:cubicBezTo>
                      <a:pt x="581459" y="569858"/>
                      <a:pt x="570690" y="580612"/>
                      <a:pt x="557252" y="580612"/>
                    </a:cubicBezTo>
                    <a:cubicBezTo>
                      <a:pt x="543813" y="580612"/>
                      <a:pt x="533044" y="569858"/>
                      <a:pt x="533044" y="556437"/>
                    </a:cubicBezTo>
                    <a:cubicBezTo>
                      <a:pt x="533044" y="463648"/>
                      <a:pt x="482048" y="379836"/>
                      <a:pt x="399813" y="338063"/>
                    </a:cubicBezTo>
                    <a:cubicBezTo>
                      <a:pt x="387887" y="331841"/>
                      <a:pt x="383170" y="317265"/>
                      <a:pt x="389222" y="305444"/>
                    </a:cubicBezTo>
                    <a:cubicBezTo>
                      <a:pt x="392293" y="299445"/>
                      <a:pt x="397477" y="295290"/>
                      <a:pt x="403384" y="293390"/>
                    </a:cubicBezTo>
                    <a:close/>
                    <a:moveTo>
                      <a:pt x="290694" y="48348"/>
                    </a:moveTo>
                    <a:cubicBezTo>
                      <a:pt x="233195" y="48348"/>
                      <a:pt x="186376" y="95629"/>
                      <a:pt x="186376" y="153753"/>
                    </a:cubicBezTo>
                    <a:cubicBezTo>
                      <a:pt x="186376" y="211966"/>
                      <a:pt x="233195" y="259247"/>
                      <a:pt x="290694" y="259247"/>
                    </a:cubicBezTo>
                    <a:cubicBezTo>
                      <a:pt x="348283" y="259247"/>
                      <a:pt x="395012" y="211966"/>
                      <a:pt x="395012" y="153753"/>
                    </a:cubicBezTo>
                    <a:cubicBezTo>
                      <a:pt x="395012" y="95629"/>
                      <a:pt x="348283" y="48348"/>
                      <a:pt x="290694" y="48348"/>
                    </a:cubicBezTo>
                    <a:close/>
                    <a:moveTo>
                      <a:pt x="290694" y="0"/>
                    </a:moveTo>
                    <a:cubicBezTo>
                      <a:pt x="374986" y="0"/>
                      <a:pt x="443433" y="68967"/>
                      <a:pt x="443433" y="153753"/>
                    </a:cubicBezTo>
                    <a:cubicBezTo>
                      <a:pt x="443433" y="238628"/>
                      <a:pt x="374986" y="307595"/>
                      <a:pt x="290694" y="307595"/>
                    </a:cubicBezTo>
                    <a:cubicBezTo>
                      <a:pt x="206491" y="307595"/>
                      <a:pt x="137955" y="238628"/>
                      <a:pt x="137955" y="153753"/>
                    </a:cubicBezTo>
                    <a:cubicBezTo>
                      <a:pt x="137955" y="68967"/>
                      <a:pt x="206491" y="0"/>
                      <a:pt x="290694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>
            <a:alpha val="100000"/>
            <a:lumMod val="9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557958"/>
          </a:xfrm>
          <a:custGeom>
            <a:avLst/>
            <a:gdLst/>
            <a:ahLst/>
            <a:cxnLst/>
            <a:rect l="l" t="t" r="r" b="b"/>
            <a:pathLst>
              <a:path w="12192000" h="557958">
                <a:moveTo>
                  <a:pt x="0" y="0"/>
                </a:moveTo>
                <a:lnTo>
                  <a:pt x="12192000" y="0"/>
                </a:lnTo>
                <a:lnTo>
                  <a:pt x="12192000" y="180000"/>
                </a:lnTo>
                <a:lnTo>
                  <a:pt x="873595" y="180000"/>
                </a:lnTo>
                <a:lnTo>
                  <a:pt x="821608" y="212488"/>
                </a:lnTo>
                <a:cubicBezTo>
                  <a:pt x="802631" y="227515"/>
                  <a:pt x="785212" y="244757"/>
                  <a:pt x="769754" y="264020"/>
                </a:cubicBezTo>
                <a:lnTo>
                  <a:pt x="631584" y="436197"/>
                </a:lnTo>
                <a:cubicBezTo>
                  <a:pt x="569752" y="513249"/>
                  <a:pt x="476529" y="557958"/>
                  <a:pt x="377836" y="557958"/>
                </a:cubicBezTo>
                <a:lnTo>
                  <a:pt x="0" y="557958"/>
                </a:lnTo>
                <a:lnTo>
                  <a:pt x="0" y="180000"/>
                </a:lnTo>
                <a:lnTo>
                  <a:pt x="0" y="161958"/>
                </a:lnTo>
                <a:close/>
              </a:path>
            </a:pathLst>
          </a:custGeom>
          <a:solidFill>
            <a:srgbClr val="005CB0">
              <a:alpha val="100000"/>
            </a:srgbClr>
          </a:solid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>
            <a:alpha val="100000"/>
            <a:lumMod val="9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 flipH="1">
            <a:off x="-12700" y="-12700"/>
            <a:ext cx="12192001" cy="6858001"/>
            <a:chOff x="-12700" y="-12700"/>
            <a:chExt cx="12192001" cy="6858001"/>
          </a:xfrm>
        </p:grpSpPr>
        <p:sp>
          <p:nvSpPr>
            <p:cNvPr id="3" name="AutoShape 3"/>
            <p:cNvSpPr/>
            <p:nvPr/>
          </p:nvSpPr>
          <p:spPr>
            <a:xfrm flipH="1" flipV="1">
              <a:off x="-12700" y="-12700"/>
              <a:ext cx="4551827" cy="1080000"/>
            </a:xfrm>
            <a:custGeom>
              <a:avLst/>
              <a:gdLst/>
              <a:ahLst/>
              <a:cxnLst/>
              <a:rect l="l" t="t" r="r" b="b"/>
              <a:pathLst>
                <a:path w="3482177" h="826207">
                  <a:moveTo>
                    <a:pt x="1126933" y="0"/>
                  </a:moveTo>
                  <a:lnTo>
                    <a:pt x="3482177" y="0"/>
                  </a:lnTo>
                  <a:lnTo>
                    <a:pt x="3482177" y="826207"/>
                  </a:lnTo>
                  <a:lnTo>
                    <a:pt x="0" y="826207"/>
                  </a:lnTo>
                  <a:lnTo>
                    <a:pt x="73380" y="800570"/>
                  </a:lnTo>
                  <a:cubicBezTo>
                    <a:pt x="163870" y="757154"/>
                    <a:pt x="244745" y="693644"/>
                    <a:pt x="309246" y="613266"/>
                  </a:cubicBezTo>
                  <a:lnTo>
                    <a:pt x="597519" y="254038"/>
                  </a:lnTo>
                  <a:cubicBezTo>
                    <a:pt x="726524" y="93280"/>
                    <a:pt x="921022" y="0"/>
                    <a:pt x="1126933" y="0"/>
                  </a:cubicBezTo>
                  <a:close/>
                </a:path>
              </a:pathLst>
            </a:custGeom>
            <a:solidFill>
              <a:srgbClr val="005CB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660400" y="693000"/>
              <a:ext cx="10872000" cy="5472000"/>
            </a:xfrm>
            <a:prstGeom prst="roundRect">
              <a:avLst>
                <a:gd name="adj" fmla="val 2916"/>
              </a:avLst>
            </a:pr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7943629" y="5850000"/>
              <a:ext cx="4248371" cy="1008000"/>
            </a:xfrm>
            <a:custGeom>
              <a:avLst/>
              <a:gdLst/>
              <a:ahLst/>
              <a:cxnLst/>
              <a:rect l="l" t="t" r="r" b="b"/>
              <a:pathLst>
                <a:path w="3482177" h="826207">
                  <a:moveTo>
                    <a:pt x="1126933" y="0"/>
                  </a:moveTo>
                  <a:lnTo>
                    <a:pt x="3482177" y="0"/>
                  </a:lnTo>
                  <a:lnTo>
                    <a:pt x="3482177" y="826207"/>
                  </a:lnTo>
                  <a:lnTo>
                    <a:pt x="0" y="826207"/>
                  </a:lnTo>
                  <a:lnTo>
                    <a:pt x="73380" y="800570"/>
                  </a:lnTo>
                  <a:cubicBezTo>
                    <a:pt x="163870" y="757154"/>
                    <a:pt x="244745" y="693644"/>
                    <a:pt x="309246" y="613266"/>
                  </a:cubicBezTo>
                  <a:lnTo>
                    <a:pt x="597519" y="254038"/>
                  </a:lnTo>
                  <a:cubicBezTo>
                    <a:pt x="726524" y="93280"/>
                    <a:pt x="921022" y="0"/>
                    <a:pt x="1126933" y="0"/>
                  </a:cubicBezTo>
                  <a:close/>
                </a:path>
              </a:pathLst>
            </a:custGeom>
            <a:solidFill>
              <a:srgbClr val="005CB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>
            <a:alpha val="100000"/>
            <a:lumMod val="9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557958"/>
          </a:xfrm>
          <a:custGeom>
            <a:avLst/>
            <a:gdLst/>
            <a:ahLst/>
            <a:cxnLst/>
            <a:rect l="l" t="t" r="r" b="b"/>
            <a:pathLst>
              <a:path w="12192000" h="557958">
                <a:moveTo>
                  <a:pt x="0" y="0"/>
                </a:moveTo>
                <a:lnTo>
                  <a:pt x="12192000" y="0"/>
                </a:lnTo>
                <a:lnTo>
                  <a:pt x="12192000" y="180000"/>
                </a:lnTo>
                <a:lnTo>
                  <a:pt x="873595" y="180000"/>
                </a:lnTo>
                <a:lnTo>
                  <a:pt x="821608" y="212488"/>
                </a:lnTo>
                <a:cubicBezTo>
                  <a:pt x="802631" y="227515"/>
                  <a:pt x="785212" y="244757"/>
                  <a:pt x="769754" y="264020"/>
                </a:cubicBezTo>
                <a:lnTo>
                  <a:pt x="631584" y="436197"/>
                </a:lnTo>
                <a:cubicBezTo>
                  <a:pt x="569752" y="513249"/>
                  <a:pt x="476529" y="557958"/>
                  <a:pt x="377836" y="557958"/>
                </a:cubicBezTo>
                <a:lnTo>
                  <a:pt x="0" y="557958"/>
                </a:lnTo>
                <a:lnTo>
                  <a:pt x="0" y="180000"/>
                </a:lnTo>
                <a:lnTo>
                  <a:pt x="0" y="161958"/>
                </a:lnTo>
                <a:close/>
              </a:path>
            </a:pathLst>
          </a:custGeom>
          <a:solidFill>
            <a:srgbClr val="005CB0">
              <a:alpha val="100000"/>
            </a:srgbClr>
          </a:solid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>
            <a:alpha val="100000"/>
            <a:lumMod val="9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solidFill>
          <a:srgbClr val="FFFFFF">
            <a:alpha val="100000"/>
            <a:lumMod val="9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2700" y="-12700"/>
            <a:ext cx="12192001" cy="6858001"/>
            <a:chOff x="-12700" y="-12700"/>
            <a:chExt cx="12192001" cy="6858001"/>
          </a:xfrm>
        </p:grpSpPr>
        <p:sp>
          <p:nvSpPr>
            <p:cNvPr id="3" name="AutoShape 3"/>
            <p:cNvSpPr/>
            <p:nvPr/>
          </p:nvSpPr>
          <p:spPr>
            <a:xfrm flipH="1" flipV="1">
              <a:off x="-12700" y="-12700"/>
              <a:ext cx="4551827" cy="1080000"/>
            </a:xfrm>
            <a:custGeom>
              <a:avLst/>
              <a:gdLst/>
              <a:ahLst/>
              <a:cxnLst/>
              <a:rect l="l" t="t" r="r" b="b"/>
              <a:pathLst>
                <a:path w="3482177" h="826207">
                  <a:moveTo>
                    <a:pt x="1126933" y="0"/>
                  </a:moveTo>
                  <a:lnTo>
                    <a:pt x="3482177" y="0"/>
                  </a:lnTo>
                  <a:lnTo>
                    <a:pt x="3482177" y="826207"/>
                  </a:lnTo>
                  <a:lnTo>
                    <a:pt x="0" y="826207"/>
                  </a:lnTo>
                  <a:lnTo>
                    <a:pt x="73380" y="800570"/>
                  </a:lnTo>
                  <a:cubicBezTo>
                    <a:pt x="163870" y="757154"/>
                    <a:pt x="244745" y="693644"/>
                    <a:pt x="309246" y="613266"/>
                  </a:cubicBezTo>
                  <a:lnTo>
                    <a:pt x="597519" y="254038"/>
                  </a:lnTo>
                  <a:cubicBezTo>
                    <a:pt x="726524" y="93280"/>
                    <a:pt x="921022" y="0"/>
                    <a:pt x="1126933" y="0"/>
                  </a:cubicBezTo>
                  <a:close/>
                </a:path>
              </a:pathLst>
            </a:custGeom>
            <a:solidFill>
              <a:srgbClr val="005CB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660400" y="693000"/>
              <a:ext cx="10872000" cy="5472000"/>
            </a:xfrm>
            <a:prstGeom prst="roundRect">
              <a:avLst>
                <a:gd name="adj" fmla="val 2916"/>
              </a:avLst>
            </a:pr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7943629" y="5850000"/>
              <a:ext cx="4248371" cy="1008000"/>
            </a:xfrm>
            <a:custGeom>
              <a:avLst/>
              <a:gdLst/>
              <a:ahLst/>
              <a:cxnLst/>
              <a:rect l="l" t="t" r="r" b="b"/>
              <a:pathLst>
                <a:path w="3482177" h="826207">
                  <a:moveTo>
                    <a:pt x="1126933" y="0"/>
                  </a:moveTo>
                  <a:lnTo>
                    <a:pt x="3482177" y="0"/>
                  </a:lnTo>
                  <a:lnTo>
                    <a:pt x="3482177" y="826207"/>
                  </a:lnTo>
                  <a:lnTo>
                    <a:pt x="0" y="826207"/>
                  </a:lnTo>
                  <a:lnTo>
                    <a:pt x="73380" y="800570"/>
                  </a:lnTo>
                  <a:cubicBezTo>
                    <a:pt x="163870" y="757154"/>
                    <a:pt x="244745" y="693644"/>
                    <a:pt x="309246" y="613266"/>
                  </a:cubicBezTo>
                  <a:lnTo>
                    <a:pt x="597519" y="254038"/>
                  </a:lnTo>
                  <a:cubicBezTo>
                    <a:pt x="726524" y="93280"/>
                    <a:pt x="921022" y="0"/>
                    <a:pt x="1126933" y="0"/>
                  </a:cubicBezTo>
                  <a:close/>
                </a:path>
              </a:pathLst>
            </a:custGeom>
            <a:solidFill>
              <a:srgbClr val="005CB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</p:grpSp>
      <p:cxnSp>
        <p:nvCxnSpPr>
          <p:cNvPr id="6" name="Connector 6"/>
          <p:cNvCxnSpPr/>
          <p:nvPr/>
        </p:nvCxnSpPr>
        <p:spPr>
          <a:xfrm>
            <a:off x="5337278" y="2368903"/>
            <a:ext cx="0" cy="3060000"/>
          </a:xfrm>
          <a:prstGeom prst="line">
            <a:avLst/>
          </a:prstGeom>
          <a:ln w="3175">
            <a:solidFill>
              <a:srgbClr val="005CB0">
                <a:alpha val="100000"/>
              </a:srgbClr>
            </a:solidFill>
            <a:prstDash val="solid"/>
            <a:headEnd type="none"/>
            <a:tailEnd type="none"/>
          </a:ln>
        </p:spPr>
      </p:cxnSp>
      <p:sp>
        <p:nvSpPr>
          <p:cNvPr id="7" name="AutoShape 7"/>
          <p:cNvSpPr/>
          <p:nvPr/>
        </p:nvSpPr>
        <p:spPr>
          <a:xfrm>
            <a:off x="10510427" y="1281055"/>
            <a:ext cx="619223" cy="651347"/>
          </a:xfrm>
          <a:custGeom>
            <a:avLst/>
            <a:gdLst/>
            <a:ahLst/>
            <a:cxnLst/>
            <a:rect l="l" t="t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005CB0">
              <a:alpha val="50196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FFFFFF">
            <a:alpha val="100000"/>
            <a:lumMod val="9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2700" y="-12700"/>
            <a:ext cx="12192001" cy="6858001"/>
            <a:chOff x="-12700" y="-12700"/>
            <a:chExt cx="12192001" cy="6858001"/>
          </a:xfrm>
        </p:grpSpPr>
        <p:grpSp>
          <p:nvGrpSpPr>
            <p:cNvPr id="3" name="Group 3"/>
            <p:cNvGrpSpPr/>
            <p:nvPr/>
          </p:nvGrpSpPr>
          <p:grpSpPr>
            <a:xfrm rot="0">
              <a:off x="-12700" y="-12700"/>
              <a:ext cx="12192001" cy="6858001"/>
              <a:chOff x="-12700" y="-12700"/>
              <a:chExt cx="12192001" cy="6858001"/>
            </a:xfrm>
          </p:grpSpPr>
          <p:sp>
            <p:nvSpPr>
              <p:cNvPr id="4" name="AutoShape 4"/>
              <p:cNvSpPr/>
              <p:nvPr/>
            </p:nvSpPr>
            <p:spPr>
              <a:xfrm flipH="1" flipV="1">
                <a:off x="-12700" y="-12700"/>
                <a:ext cx="4551827" cy="1080000"/>
              </a:xfrm>
              <a:custGeom>
                <a:avLst/>
                <a:gdLst/>
                <a:ahLst/>
                <a:cxnLst/>
                <a:rect l="l" t="t" r="r" b="b"/>
                <a:pathLst>
                  <a:path w="3482177" h="826207">
                    <a:moveTo>
                      <a:pt x="1126933" y="0"/>
                    </a:moveTo>
                    <a:lnTo>
                      <a:pt x="3482177" y="0"/>
                    </a:lnTo>
                    <a:lnTo>
                      <a:pt x="3482177" y="826207"/>
                    </a:lnTo>
                    <a:lnTo>
                      <a:pt x="0" y="826207"/>
                    </a:lnTo>
                    <a:lnTo>
                      <a:pt x="73380" y="800570"/>
                    </a:lnTo>
                    <a:cubicBezTo>
                      <a:pt x="163870" y="757154"/>
                      <a:pt x="244745" y="693644"/>
                      <a:pt x="309246" y="613266"/>
                    </a:cubicBezTo>
                    <a:lnTo>
                      <a:pt x="597519" y="254038"/>
                    </a:lnTo>
                    <a:cubicBezTo>
                      <a:pt x="726524" y="93280"/>
                      <a:pt x="921022" y="0"/>
                      <a:pt x="1126933" y="0"/>
                    </a:cubicBezTo>
                    <a:close/>
                  </a:path>
                </a:pathLst>
              </a:custGeom>
              <a:solidFill>
                <a:srgbClr val="005CB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" name="AutoShape 5"/>
              <p:cNvSpPr/>
              <p:nvPr/>
            </p:nvSpPr>
            <p:spPr>
              <a:xfrm>
                <a:off x="660400" y="693000"/>
                <a:ext cx="10872000" cy="5472000"/>
              </a:xfrm>
              <a:prstGeom prst="roundRect">
                <a:avLst>
                  <a:gd name="adj" fmla="val 2916"/>
                </a:avLst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AutoShape 6"/>
              <p:cNvSpPr/>
              <p:nvPr/>
            </p:nvSpPr>
            <p:spPr>
              <a:xfrm>
                <a:off x="7943629" y="5850000"/>
                <a:ext cx="4248371" cy="1008000"/>
              </a:xfrm>
              <a:custGeom>
                <a:avLst/>
                <a:gdLst/>
                <a:ahLst/>
                <a:cxnLst/>
                <a:rect l="l" t="t" r="r" b="b"/>
                <a:pathLst>
                  <a:path w="3482177" h="826207">
                    <a:moveTo>
                      <a:pt x="1126933" y="0"/>
                    </a:moveTo>
                    <a:lnTo>
                      <a:pt x="3482177" y="0"/>
                    </a:lnTo>
                    <a:lnTo>
                      <a:pt x="3482177" y="826207"/>
                    </a:lnTo>
                    <a:lnTo>
                      <a:pt x="0" y="826207"/>
                    </a:lnTo>
                    <a:lnTo>
                      <a:pt x="73380" y="800570"/>
                    </a:lnTo>
                    <a:cubicBezTo>
                      <a:pt x="163870" y="757154"/>
                      <a:pt x="244745" y="693644"/>
                      <a:pt x="309246" y="613266"/>
                    </a:cubicBezTo>
                    <a:lnTo>
                      <a:pt x="597519" y="254038"/>
                    </a:lnTo>
                    <a:cubicBezTo>
                      <a:pt x="726524" y="93280"/>
                      <a:pt x="921022" y="0"/>
                      <a:pt x="1126933" y="0"/>
                    </a:cubicBezTo>
                    <a:close/>
                  </a:path>
                </a:pathLst>
              </a:custGeom>
              <a:solidFill>
                <a:srgbClr val="005CB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7" name="Group 7"/>
            <p:cNvGrpSpPr/>
            <p:nvPr/>
          </p:nvGrpSpPr>
          <p:grpSpPr>
            <a:xfrm rot="0">
              <a:off x="6432918" y="4459304"/>
              <a:ext cx="540000" cy="540000"/>
              <a:chOff x="7460376" y="5269978"/>
              <a:chExt cx="540000" cy="540000"/>
            </a:xfrm>
          </p:grpSpPr>
          <p:sp>
            <p:nvSpPr>
              <p:cNvPr id="8" name="AutoShape 8"/>
              <p:cNvSpPr/>
              <p:nvPr/>
            </p:nvSpPr>
            <p:spPr>
              <a:xfrm>
                <a:off x="7460376" y="5269978"/>
                <a:ext cx="540000" cy="540000"/>
              </a:xfrm>
              <a:prstGeom prst="ellipse">
                <a:avLst/>
              </a:prstGeom>
              <a:solidFill>
                <a:srgbClr val="005CB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9" name="AutoShape 9"/>
              <p:cNvSpPr/>
              <p:nvPr/>
            </p:nvSpPr>
            <p:spPr>
              <a:xfrm>
                <a:off x="7586376" y="5429743"/>
                <a:ext cx="288000" cy="220470"/>
              </a:xfrm>
              <a:custGeom>
                <a:avLst/>
                <a:gdLst/>
                <a:ahLst/>
                <a:cxnLst/>
                <a:rect l="l" t="t" r="r" b="b"/>
                <a:pathLst>
                  <a:path w="608415" h="465755">
                    <a:moveTo>
                      <a:pt x="20136" y="282073"/>
                    </a:moveTo>
                    <a:cubicBezTo>
                      <a:pt x="31229" y="282073"/>
                      <a:pt x="40152" y="290985"/>
                      <a:pt x="40152" y="302063"/>
                    </a:cubicBezTo>
                    <a:lnTo>
                      <a:pt x="40152" y="326389"/>
                    </a:lnTo>
                    <a:cubicBezTo>
                      <a:pt x="40152" y="337468"/>
                      <a:pt x="31229" y="346499"/>
                      <a:pt x="20136" y="346499"/>
                    </a:cubicBezTo>
                    <a:cubicBezTo>
                      <a:pt x="9043" y="346499"/>
                      <a:pt x="0" y="337468"/>
                      <a:pt x="0" y="326389"/>
                    </a:cubicBezTo>
                    <a:lnTo>
                      <a:pt x="0" y="302063"/>
                    </a:lnTo>
                    <a:cubicBezTo>
                      <a:pt x="0" y="290985"/>
                      <a:pt x="9043" y="282073"/>
                      <a:pt x="20136" y="282073"/>
                    </a:cubicBezTo>
                    <a:close/>
                    <a:moveTo>
                      <a:pt x="123517" y="243643"/>
                    </a:moveTo>
                    <a:lnTo>
                      <a:pt x="123517" y="374935"/>
                    </a:lnTo>
                    <a:cubicBezTo>
                      <a:pt x="136906" y="387703"/>
                      <a:pt x="186360" y="425645"/>
                      <a:pt x="304208" y="425645"/>
                    </a:cubicBezTo>
                    <a:cubicBezTo>
                      <a:pt x="422055" y="425645"/>
                      <a:pt x="471510" y="387703"/>
                      <a:pt x="484899" y="374935"/>
                    </a:cubicBezTo>
                    <a:lnTo>
                      <a:pt x="484899" y="243643"/>
                    </a:lnTo>
                    <a:lnTo>
                      <a:pt x="313495" y="332536"/>
                    </a:lnTo>
                    <a:cubicBezTo>
                      <a:pt x="310601" y="333981"/>
                      <a:pt x="307344" y="334704"/>
                      <a:pt x="304208" y="334704"/>
                    </a:cubicBezTo>
                    <a:cubicBezTo>
                      <a:pt x="301071" y="334704"/>
                      <a:pt x="297815" y="333981"/>
                      <a:pt x="294920" y="332536"/>
                    </a:cubicBezTo>
                    <a:close/>
                    <a:moveTo>
                      <a:pt x="304208" y="42730"/>
                    </a:moveTo>
                    <a:lnTo>
                      <a:pt x="63688" y="167397"/>
                    </a:lnTo>
                    <a:lnTo>
                      <a:pt x="304208" y="292064"/>
                    </a:lnTo>
                    <a:lnTo>
                      <a:pt x="544727" y="167397"/>
                    </a:lnTo>
                    <a:close/>
                    <a:moveTo>
                      <a:pt x="294920" y="2258"/>
                    </a:moveTo>
                    <a:cubicBezTo>
                      <a:pt x="300710" y="-753"/>
                      <a:pt x="307706" y="-753"/>
                      <a:pt x="313495" y="2258"/>
                    </a:cubicBezTo>
                    <a:lnTo>
                      <a:pt x="597559" y="149570"/>
                    </a:lnTo>
                    <a:cubicBezTo>
                      <a:pt x="604193" y="153063"/>
                      <a:pt x="608415" y="159929"/>
                      <a:pt x="608415" y="167397"/>
                    </a:cubicBezTo>
                    <a:cubicBezTo>
                      <a:pt x="608415" y="174865"/>
                      <a:pt x="604193" y="181731"/>
                      <a:pt x="597559" y="185224"/>
                    </a:cubicBezTo>
                    <a:lnTo>
                      <a:pt x="525066" y="222804"/>
                    </a:lnTo>
                    <a:lnTo>
                      <a:pt x="525066" y="382644"/>
                    </a:lnTo>
                    <a:cubicBezTo>
                      <a:pt x="525066" y="386860"/>
                      <a:pt x="523859" y="390955"/>
                      <a:pt x="521326" y="394328"/>
                    </a:cubicBezTo>
                    <a:cubicBezTo>
                      <a:pt x="519276" y="397218"/>
                      <a:pt x="468253" y="465755"/>
                      <a:pt x="304208" y="465755"/>
                    </a:cubicBezTo>
                    <a:cubicBezTo>
                      <a:pt x="140162" y="465755"/>
                      <a:pt x="89139" y="397218"/>
                      <a:pt x="87089" y="394328"/>
                    </a:cubicBezTo>
                    <a:cubicBezTo>
                      <a:pt x="84556" y="390955"/>
                      <a:pt x="83350" y="386860"/>
                      <a:pt x="83350" y="382644"/>
                    </a:cubicBezTo>
                    <a:lnTo>
                      <a:pt x="83350" y="222804"/>
                    </a:lnTo>
                    <a:lnTo>
                      <a:pt x="40167" y="200400"/>
                    </a:lnTo>
                    <a:lnTo>
                      <a:pt x="40167" y="244245"/>
                    </a:lnTo>
                    <a:cubicBezTo>
                      <a:pt x="40167" y="255326"/>
                      <a:pt x="31241" y="264360"/>
                      <a:pt x="20144" y="264360"/>
                    </a:cubicBezTo>
                    <a:cubicBezTo>
                      <a:pt x="9047" y="264360"/>
                      <a:pt x="0" y="255326"/>
                      <a:pt x="0" y="244245"/>
                    </a:cubicBezTo>
                    <a:lnTo>
                      <a:pt x="0" y="167397"/>
                    </a:lnTo>
                    <a:cubicBezTo>
                      <a:pt x="0" y="159929"/>
                      <a:pt x="4222" y="153063"/>
                      <a:pt x="10856" y="14957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10" name="Group 10"/>
            <p:cNvGrpSpPr/>
            <p:nvPr/>
          </p:nvGrpSpPr>
          <p:grpSpPr>
            <a:xfrm rot="0">
              <a:off x="3073375" y="4459304"/>
              <a:ext cx="540000" cy="540000"/>
              <a:chOff x="4437200" y="5269978"/>
              <a:chExt cx="540000" cy="540000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4437200" y="5269978"/>
                <a:ext cx="540000" cy="540000"/>
              </a:xfrm>
              <a:prstGeom prst="ellipse">
                <a:avLst/>
              </a:prstGeom>
              <a:solidFill>
                <a:srgbClr val="005CB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AutoShape 12"/>
              <p:cNvSpPr/>
              <p:nvPr/>
            </p:nvSpPr>
            <p:spPr>
              <a:xfrm>
                <a:off x="4593936" y="5426880"/>
                <a:ext cx="226528" cy="226197"/>
              </a:xfrm>
              <a:custGeom>
                <a:avLst/>
                <a:gdLst/>
                <a:ahLst/>
                <a:cxnLst/>
                <a:rect l="l" t="t" r="r" b="b"/>
                <a:pathLst>
                  <a:path w="581459" h="580612">
                    <a:moveTo>
                      <a:pt x="283975" y="371116"/>
                    </a:moveTo>
                    <a:lnTo>
                      <a:pt x="263239" y="486746"/>
                    </a:lnTo>
                    <a:lnTo>
                      <a:pt x="291629" y="500700"/>
                    </a:lnTo>
                    <a:lnTo>
                      <a:pt x="318507" y="487013"/>
                    </a:lnTo>
                    <a:lnTo>
                      <a:pt x="297770" y="371116"/>
                    </a:lnTo>
                    <a:close/>
                    <a:moveTo>
                      <a:pt x="263595" y="322766"/>
                    </a:moveTo>
                    <a:lnTo>
                      <a:pt x="317973" y="322766"/>
                    </a:lnTo>
                    <a:cubicBezTo>
                      <a:pt x="329720" y="322766"/>
                      <a:pt x="339777" y="331121"/>
                      <a:pt x="341824" y="342675"/>
                    </a:cubicBezTo>
                    <a:lnTo>
                      <a:pt x="369235" y="496078"/>
                    </a:lnTo>
                    <a:cubicBezTo>
                      <a:pt x="371104" y="506655"/>
                      <a:pt x="365853" y="517054"/>
                      <a:pt x="356420" y="521942"/>
                    </a:cubicBezTo>
                    <a:lnTo>
                      <a:pt x="302754" y="549405"/>
                    </a:lnTo>
                    <a:cubicBezTo>
                      <a:pt x="294833" y="553938"/>
                      <a:pt x="289226" y="553494"/>
                      <a:pt x="280949" y="549583"/>
                    </a:cubicBezTo>
                    <a:lnTo>
                      <a:pt x="225237" y="522031"/>
                    </a:lnTo>
                    <a:cubicBezTo>
                      <a:pt x="215625" y="517320"/>
                      <a:pt x="210285" y="506655"/>
                      <a:pt x="212243" y="496078"/>
                    </a:cubicBezTo>
                    <a:lnTo>
                      <a:pt x="239744" y="342675"/>
                    </a:lnTo>
                    <a:cubicBezTo>
                      <a:pt x="241790" y="331121"/>
                      <a:pt x="251847" y="322766"/>
                      <a:pt x="263595" y="322766"/>
                    </a:cubicBezTo>
                    <a:close/>
                    <a:moveTo>
                      <a:pt x="175403" y="294638"/>
                    </a:moveTo>
                    <a:cubicBezTo>
                      <a:pt x="181311" y="296493"/>
                      <a:pt x="186518" y="300581"/>
                      <a:pt x="189588" y="306446"/>
                    </a:cubicBezTo>
                    <a:cubicBezTo>
                      <a:pt x="195819" y="318266"/>
                      <a:pt x="191279" y="332930"/>
                      <a:pt x="179441" y="339151"/>
                    </a:cubicBezTo>
                    <a:cubicBezTo>
                      <a:pt x="98621" y="381453"/>
                      <a:pt x="48420" y="464725"/>
                      <a:pt x="48420" y="556439"/>
                    </a:cubicBezTo>
                    <a:cubicBezTo>
                      <a:pt x="48420" y="569859"/>
                      <a:pt x="37561" y="580612"/>
                      <a:pt x="24210" y="580612"/>
                    </a:cubicBezTo>
                    <a:cubicBezTo>
                      <a:pt x="10770" y="580612"/>
                      <a:pt x="0" y="569859"/>
                      <a:pt x="0" y="556439"/>
                    </a:cubicBezTo>
                    <a:cubicBezTo>
                      <a:pt x="0" y="446595"/>
                      <a:pt x="60170" y="346971"/>
                      <a:pt x="157011" y="296226"/>
                    </a:cubicBezTo>
                    <a:cubicBezTo>
                      <a:pt x="162886" y="293160"/>
                      <a:pt x="169495" y="292782"/>
                      <a:pt x="175403" y="294638"/>
                    </a:cubicBezTo>
                    <a:close/>
                    <a:moveTo>
                      <a:pt x="403384" y="293390"/>
                    </a:moveTo>
                    <a:cubicBezTo>
                      <a:pt x="409291" y="291490"/>
                      <a:pt x="415922" y="291846"/>
                      <a:pt x="421885" y="294868"/>
                    </a:cubicBezTo>
                    <a:cubicBezTo>
                      <a:pt x="520228" y="344995"/>
                      <a:pt x="581459" y="445250"/>
                      <a:pt x="581459" y="556437"/>
                    </a:cubicBezTo>
                    <a:cubicBezTo>
                      <a:pt x="581459" y="569858"/>
                      <a:pt x="570690" y="580612"/>
                      <a:pt x="557252" y="580612"/>
                    </a:cubicBezTo>
                    <a:cubicBezTo>
                      <a:pt x="543813" y="580612"/>
                      <a:pt x="533044" y="569858"/>
                      <a:pt x="533044" y="556437"/>
                    </a:cubicBezTo>
                    <a:cubicBezTo>
                      <a:pt x="533044" y="463648"/>
                      <a:pt x="482048" y="379836"/>
                      <a:pt x="399813" y="338063"/>
                    </a:cubicBezTo>
                    <a:cubicBezTo>
                      <a:pt x="387887" y="331841"/>
                      <a:pt x="383170" y="317265"/>
                      <a:pt x="389222" y="305444"/>
                    </a:cubicBezTo>
                    <a:cubicBezTo>
                      <a:pt x="392293" y="299445"/>
                      <a:pt x="397477" y="295290"/>
                      <a:pt x="403384" y="293390"/>
                    </a:cubicBezTo>
                    <a:close/>
                    <a:moveTo>
                      <a:pt x="290694" y="48348"/>
                    </a:moveTo>
                    <a:cubicBezTo>
                      <a:pt x="233195" y="48348"/>
                      <a:pt x="186376" y="95629"/>
                      <a:pt x="186376" y="153753"/>
                    </a:cubicBezTo>
                    <a:cubicBezTo>
                      <a:pt x="186376" y="211966"/>
                      <a:pt x="233195" y="259247"/>
                      <a:pt x="290694" y="259247"/>
                    </a:cubicBezTo>
                    <a:cubicBezTo>
                      <a:pt x="348283" y="259247"/>
                      <a:pt x="395012" y="211966"/>
                      <a:pt x="395012" y="153753"/>
                    </a:cubicBezTo>
                    <a:cubicBezTo>
                      <a:pt x="395012" y="95629"/>
                      <a:pt x="348283" y="48348"/>
                      <a:pt x="290694" y="48348"/>
                    </a:cubicBezTo>
                    <a:close/>
                    <a:moveTo>
                      <a:pt x="290694" y="0"/>
                    </a:moveTo>
                    <a:cubicBezTo>
                      <a:pt x="374986" y="0"/>
                      <a:pt x="443433" y="68967"/>
                      <a:pt x="443433" y="153753"/>
                    </a:cubicBezTo>
                    <a:cubicBezTo>
                      <a:pt x="443433" y="238628"/>
                      <a:pt x="374986" y="307595"/>
                      <a:pt x="290694" y="307595"/>
                    </a:cubicBezTo>
                    <a:cubicBezTo>
                      <a:pt x="206491" y="307595"/>
                      <a:pt x="137955" y="238628"/>
                      <a:pt x="137955" y="153753"/>
                    </a:cubicBezTo>
                    <a:cubicBezTo>
                      <a:pt x="137955" y="68967"/>
                      <a:pt x="206491" y="0"/>
                      <a:pt x="290694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6.xml"/><Relationship Id="rId15" Type="http://schemas.openxmlformats.org/officeDocument/2006/relationships/image" Target="../media/image2.png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8" Type="http://schemas.openxmlformats.org/officeDocument/2006/relationships/slideLayout" Target="../slideLayouts/slideLayout6.xml"/><Relationship Id="rId17" Type="http://schemas.openxmlformats.org/officeDocument/2006/relationships/image" Target="../media/image2.png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tags" Target="../tags/tag36.x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12.png"/><Relationship Id="rId1" Type="http://schemas.openxmlformats.org/officeDocument/2006/relationships/tags" Target="../tags/tag35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8" Type="http://schemas.openxmlformats.org/officeDocument/2006/relationships/slideLayout" Target="../slideLayouts/slideLayout6.xml"/><Relationship Id="rId17" Type="http://schemas.openxmlformats.org/officeDocument/2006/relationships/image" Target="../media/image2.png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2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10" Type="http://schemas.openxmlformats.org/officeDocument/2006/relationships/tags" Target="../tags/tag62.xml"/><Relationship Id="rId1" Type="http://schemas.openxmlformats.org/officeDocument/2006/relationships/tags" Target="../tags/tag5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tags" Target="../tags/tag63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6" Type="http://schemas.openxmlformats.org/officeDocument/2006/relationships/slideLayout" Target="../slideLayouts/slideLayout6.xml"/><Relationship Id="rId15" Type="http://schemas.openxmlformats.org/officeDocument/2006/relationships/image" Target="../media/image2.png"/><Relationship Id="rId14" Type="http://schemas.openxmlformats.org/officeDocument/2006/relationships/image" Target="../media/image32.png"/><Relationship Id="rId13" Type="http://schemas.openxmlformats.org/officeDocument/2006/relationships/image" Target="../media/image31.png"/><Relationship Id="rId12" Type="http://schemas.openxmlformats.org/officeDocument/2006/relationships/image" Target="../media/image30.png"/><Relationship Id="rId11" Type="http://schemas.openxmlformats.org/officeDocument/2006/relationships/image" Target="../media/image29.png"/><Relationship Id="rId10" Type="http://schemas.openxmlformats.org/officeDocument/2006/relationships/image" Target="../media/image28.png"/><Relationship Id="rId1" Type="http://schemas.openxmlformats.org/officeDocument/2006/relationships/tags" Target="../tags/tag64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png"/><Relationship Id="rId8" Type="http://schemas.openxmlformats.org/officeDocument/2006/relationships/image" Target="../media/image39.png"/><Relationship Id="rId7" Type="http://schemas.openxmlformats.org/officeDocument/2006/relationships/image" Target="../media/image38.png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2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10" Type="http://schemas.openxmlformats.org/officeDocument/2006/relationships/image" Target="../media/image41.png"/><Relationship Id="rId1" Type="http://schemas.openxmlformats.org/officeDocument/2006/relationships/tags" Target="../tags/tag65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png"/><Relationship Id="rId8" Type="http://schemas.openxmlformats.org/officeDocument/2006/relationships/image" Target="../media/image48.png"/><Relationship Id="rId7" Type="http://schemas.openxmlformats.org/officeDocument/2006/relationships/image" Target="../media/image47.png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2.png"/><Relationship Id="rId1" Type="http://schemas.openxmlformats.org/officeDocument/2006/relationships/tags" Target="../tags/tag6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2" Type="http://schemas.openxmlformats.org/officeDocument/2006/relationships/slideLayout" Target="../slideLayouts/slideLayout6.xml"/><Relationship Id="rId21" Type="http://schemas.openxmlformats.org/officeDocument/2006/relationships/tags" Target="../tags/tag87.xml"/><Relationship Id="rId20" Type="http://schemas.openxmlformats.org/officeDocument/2006/relationships/tags" Target="../tags/tag86.xml"/><Relationship Id="rId2" Type="http://schemas.openxmlformats.org/officeDocument/2006/relationships/tags" Target="../tags/tag68.xml"/><Relationship Id="rId19" Type="http://schemas.openxmlformats.org/officeDocument/2006/relationships/tags" Target="../tags/tag85.xml"/><Relationship Id="rId18" Type="http://schemas.openxmlformats.org/officeDocument/2006/relationships/tags" Target="../tags/tag84.xml"/><Relationship Id="rId17" Type="http://schemas.openxmlformats.org/officeDocument/2006/relationships/tags" Target="../tags/tag83.xml"/><Relationship Id="rId16" Type="http://schemas.openxmlformats.org/officeDocument/2006/relationships/tags" Target="../tags/tag82.xml"/><Relationship Id="rId15" Type="http://schemas.openxmlformats.org/officeDocument/2006/relationships/tags" Target="../tags/tag81.xml"/><Relationship Id="rId14" Type="http://schemas.openxmlformats.org/officeDocument/2006/relationships/tags" Target="../tags/tag80.xml"/><Relationship Id="rId13" Type="http://schemas.openxmlformats.org/officeDocument/2006/relationships/tags" Target="../tags/tag79.xml"/><Relationship Id="rId12" Type="http://schemas.openxmlformats.org/officeDocument/2006/relationships/tags" Target="../tags/tag78.xml"/><Relationship Id="rId11" Type="http://schemas.openxmlformats.org/officeDocument/2006/relationships/tags" Target="../tags/tag77.xml"/><Relationship Id="rId10" Type="http://schemas.openxmlformats.org/officeDocument/2006/relationships/tags" Target="../tags/tag76.xml"/><Relationship Id="rId1" Type="http://schemas.openxmlformats.org/officeDocument/2006/relationships/tags" Target="../tags/tag6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29651" y="1130300"/>
            <a:ext cx="9720000" cy="2232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5400" b="1" i="0">
                <a:ln w="19050"/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嵌入式软件开发实习面试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1229650" y="3445908"/>
            <a:ext cx="9720000" cy="720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2800" b="0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项目介绍与个人能力展示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3701079" y="4688414"/>
            <a:ext cx="2340000" cy="432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000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1400" b="0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报告人名称</a:t>
            </a:r>
            <a:r>
              <a:rPr lang="zh-CN" altLang="en-US" sz="1400" b="0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：张馨</a:t>
            </a:r>
            <a:r>
              <a:rPr lang="zh-CN" altLang="en-US" sz="1400" b="0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夫</a:t>
            </a:r>
            <a:endParaRPr lang="zh-CN" altLang="en-US" sz="1400" b="0" i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054692" y="4688414"/>
            <a:ext cx="2340000" cy="432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1400" b="0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2026.6.4</a:t>
            </a:r>
            <a:endParaRPr lang="en-US" sz="1100"/>
          </a:p>
        </p:txBody>
      </p:sp>
      <p:pic>
        <p:nvPicPr>
          <p:cNvPr id="7" name="图片 6" descr="WPS图片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902460" cy="690880"/>
          </a:xfrm>
          <a:prstGeom prst="rect">
            <a:avLst/>
          </a:prstGeom>
        </p:spPr>
      </p:pic>
      <p:pic>
        <p:nvPicPr>
          <p:cNvPr id="8" name="图片 7" descr="OIP-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6200" y="0"/>
            <a:ext cx="659765" cy="6527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40681025-8c93-44b9-bb19-93e11205520d"/>
          <p:cNvGrpSpPr/>
          <p:nvPr/>
        </p:nvGrpSpPr>
        <p:grpSpPr>
          <a:xfrm rot="0">
            <a:off x="0" y="0"/>
            <a:ext cx="12192000" cy="6858000"/>
            <a:chOff x="0" y="0"/>
            <a:chExt cx="12192000" cy="6858000"/>
          </a:xfrm>
        </p:grpSpPr>
        <p:grpSp>
          <p:nvGrpSpPr>
            <p:cNvPr id="3" name="Group 3"/>
            <p:cNvGrpSpPr/>
            <p:nvPr/>
          </p:nvGrpSpPr>
          <p:grpSpPr>
            <a:xfrm rot="0">
              <a:off x="0" y="0"/>
              <a:ext cx="12192000" cy="6858000"/>
              <a:chOff x="0" y="0"/>
              <a:chExt cx="12192000" cy="6858000"/>
            </a:xfrm>
          </p:grpSpPr>
          <p:grpSp>
            <p:nvGrpSpPr>
              <p:cNvPr id="4" name="Group 4"/>
              <p:cNvGrpSpPr/>
              <p:nvPr/>
            </p:nvGrpSpPr>
            <p:grpSpPr>
              <a:xfrm rot="0">
                <a:off x="0" y="0"/>
                <a:ext cx="12192000" cy="6858000"/>
                <a:chOff x="0" y="0"/>
                <a:chExt cx="12192000" cy="6858000"/>
              </a:xfrm>
            </p:grpSpPr>
            <p:sp>
              <p:nvSpPr>
                <p:cNvPr id="5" name="AutoShape 5"/>
                <p:cNvSpPr/>
                <p:nvPr/>
              </p:nvSpPr>
              <p:spPr>
                <a:xfrm>
                  <a:off x="0" y="0"/>
                  <a:ext cx="12192000" cy="685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92000" h="6858000">
                      <a:moveTo>
                        <a:pt x="0" y="0"/>
                      </a:moveTo>
                      <a:lnTo>
                        <a:pt x="12192000" y="0"/>
                      </a:lnTo>
                      <a:lnTo>
                        <a:pt x="12192000" y="6858000"/>
                      </a:lnTo>
                      <a:lnTo>
                        <a:pt x="0" y="6858000"/>
                      </a:lnTo>
                      <a:close/>
                    </a:path>
                  </a:pathLst>
                </a:custGeom>
                <a:solidFill>
                  <a:srgbClr val="005CB0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6" name="AutoShape 6"/>
                <p:cNvSpPr/>
                <p:nvPr/>
              </p:nvSpPr>
              <p:spPr>
                <a:xfrm>
                  <a:off x="0" y="0"/>
                  <a:ext cx="12192000" cy="1935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92000" h="1935858">
                      <a:moveTo>
                        <a:pt x="0" y="0"/>
                      </a:moveTo>
                      <a:lnTo>
                        <a:pt x="12192000" y="0"/>
                      </a:lnTo>
                      <a:lnTo>
                        <a:pt x="12192000" y="1163446"/>
                      </a:lnTo>
                      <a:lnTo>
                        <a:pt x="12082889" y="1245037"/>
                      </a:lnTo>
                      <a:cubicBezTo>
                        <a:pt x="11856292" y="1398123"/>
                        <a:pt x="11583125" y="1487512"/>
                        <a:pt x="11289080" y="1487512"/>
                      </a:cubicBezTo>
                      <a:cubicBezTo>
                        <a:pt x="10946027" y="1487512"/>
                        <a:pt x="10631392" y="1365844"/>
                        <a:pt x="10385972" y="1163305"/>
                      </a:cubicBezTo>
                      <a:lnTo>
                        <a:pt x="10298687" y="1083975"/>
                      </a:lnTo>
                      <a:lnTo>
                        <a:pt x="10252158" y="1135170"/>
                      </a:lnTo>
                      <a:cubicBezTo>
                        <a:pt x="9995230" y="1392098"/>
                        <a:pt x="9640286" y="1551012"/>
                        <a:pt x="9248226" y="1551012"/>
                      </a:cubicBezTo>
                      <a:cubicBezTo>
                        <a:pt x="8807158" y="1551012"/>
                        <a:pt x="8413067" y="1349887"/>
                        <a:pt x="8152659" y="1034346"/>
                      </a:cubicBezTo>
                      <a:lnTo>
                        <a:pt x="8147611" y="1027595"/>
                      </a:lnTo>
                      <a:lnTo>
                        <a:pt x="8113455" y="1083819"/>
                      </a:lnTo>
                      <a:cubicBezTo>
                        <a:pt x="7786869" y="1567229"/>
                        <a:pt x="7233803" y="1885058"/>
                        <a:pt x="6606504" y="1885058"/>
                      </a:cubicBezTo>
                      <a:cubicBezTo>
                        <a:pt x="6041935" y="1885058"/>
                        <a:pt x="5537496" y="1627617"/>
                        <a:pt x="5204174" y="1223722"/>
                      </a:cubicBezTo>
                      <a:lnTo>
                        <a:pt x="5185944" y="1199347"/>
                      </a:lnTo>
                      <a:lnTo>
                        <a:pt x="5075660" y="1299580"/>
                      </a:lnTo>
                      <a:cubicBezTo>
                        <a:pt x="4594008" y="1697076"/>
                        <a:pt x="3976515" y="1935858"/>
                        <a:pt x="3303253" y="1935858"/>
                      </a:cubicBezTo>
                      <a:cubicBezTo>
                        <a:pt x="2629991" y="1935858"/>
                        <a:pt x="2012499" y="1697076"/>
                        <a:pt x="1530845" y="1299580"/>
                      </a:cubicBezTo>
                      <a:lnTo>
                        <a:pt x="1406402" y="1186479"/>
                      </a:lnTo>
                      <a:lnTo>
                        <a:pt x="1329326" y="1271284"/>
                      </a:lnTo>
                      <a:cubicBezTo>
                        <a:pt x="1086628" y="1513981"/>
                        <a:pt x="751345" y="1664093"/>
                        <a:pt x="381001" y="1664093"/>
                      </a:cubicBezTo>
                      <a:cubicBezTo>
                        <a:pt x="288415" y="1664093"/>
                        <a:pt x="198020" y="1654711"/>
                        <a:pt x="110716" y="1636846"/>
                      </a:cubicBezTo>
                      <a:lnTo>
                        <a:pt x="0" y="1608378"/>
                      </a:lnTo>
                      <a:close/>
                    </a:path>
                  </a:pathLst>
                </a:custGeom>
                <a:solidFill>
                  <a:srgbClr val="00A4DE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  <p:grpSp>
            <p:nvGrpSpPr>
              <p:cNvPr id="7" name="Group 7"/>
              <p:cNvGrpSpPr/>
              <p:nvPr/>
            </p:nvGrpSpPr>
            <p:grpSpPr>
              <a:xfrm rot="0">
                <a:off x="721147" y="3632301"/>
                <a:ext cx="2499247" cy="1852559"/>
                <a:chOff x="721147" y="3632301"/>
                <a:chExt cx="2499247" cy="1852559"/>
              </a:xfrm>
            </p:grpSpPr>
            <p:sp>
              <p:nvSpPr>
                <p:cNvPr id="8" name="TextBox 8"/>
                <p:cNvSpPr txBox="1"/>
                <p:nvPr/>
              </p:nvSpPr>
              <p:spPr>
                <a:xfrm>
                  <a:off x="721147" y="4710587"/>
                  <a:ext cx="2499246" cy="77427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个人简介与背景</a:t>
                  </a:r>
                  <a:endParaRPr lang="en-US" sz="1100"/>
                </a:p>
              </p:txBody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721148" y="3632301"/>
                  <a:ext cx="2499246" cy="107828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68575" tIns="34275" rIns="68575" bIns="34275" rtlCol="0" anchor="b" anchorCtr="0"/>
                <a:lstStyle/>
                <a:p>
                  <a:pPr algn="l">
                    <a:defRPr/>
                  </a:pPr>
                  <a:r>
                    <a:rPr lang="en-US" sz="6600" b="0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01</a:t>
                  </a:r>
                  <a:endParaRPr lang="en-US" sz="1100"/>
                </a:p>
              </p:txBody>
            </p:sp>
          </p:grpSp>
          <p:grpSp>
            <p:nvGrpSpPr>
              <p:cNvPr id="10" name="Group 10"/>
              <p:cNvGrpSpPr/>
              <p:nvPr/>
            </p:nvGrpSpPr>
            <p:grpSpPr>
              <a:xfrm rot="0">
                <a:off x="3467067" y="2198626"/>
                <a:ext cx="2499247" cy="1852559"/>
                <a:chOff x="3467067" y="2198626"/>
                <a:chExt cx="2499247" cy="1852559"/>
              </a:xfrm>
            </p:grpSpPr>
            <p:sp>
              <p:nvSpPr>
                <p:cNvPr id="11" name="TextBox 11"/>
                <p:cNvSpPr txBox="1"/>
                <p:nvPr/>
              </p:nvSpPr>
              <p:spPr>
                <a:xfrm>
                  <a:off x="3467067" y="3276912"/>
                  <a:ext cx="2499246" cy="77427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智能汽车竞赛项目</a:t>
                  </a:r>
                  <a:endParaRPr lang="en-US" sz="1100"/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3467068" y="2198626"/>
                  <a:ext cx="2499246" cy="107828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68575" tIns="34275" rIns="68575" bIns="34275" rtlCol="0" anchor="b" anchorCtr="0"/>
                <a:lstStyle/>
                <a:p>
                  <a:pPr algn="l">
                    <a:defRPr/>
                  </a:pPr>
                  <a:r>
                    <a:rPr lang="en-US" sz="6600" b="0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02</a:t>
                  </a:r>
                  <a:endParaRPr lang="en-US" sz="1100"/>
                </a:p>
              </p:txBody>
            </p:sp>
          </p:grpSp>
          <p:grpSp>
            <p:nvGrpSpPr>
              <p:cNvPr id="13" name="Group 13"/>
              <p:cNvGrpSpPr/>
              <p:nvPr/>
            </p:nvGrpSpPr>
            <p:grpSpPr>
              <a:xfrm rot="0">
                <a:off x="6212987" y="3592042"/>
                <a:ext cx="2499246" cy="1892819"/>
                <a:chOff x="6212987" y="3592042"/>
                <a:chExt cx="2499246" cy="1892819"/>
              </a:xfrm>
            </p:grpSpPr>
            <p:sp>
              <p:nvSpPr>
                <p:cNvPr id="14" name="TextBox 14"/>
                <p:cNvSpPr txBox="1"/>
                <p:nvPr/>
              </p:nvSpPr>
              <p:spPr>
                <a:xfrm>
                  <a:off x="6212988" y="4710588"/>
                  <a:ext cx="2499245" cy="77427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RoboMaster机器人项目</a:t>
                  </a:r>
                  <a:endParaRPr lang="en-US" sz="1100"/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6212987" y="3592042"/>
                  <a:ext cx="2499246" cy="1118546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68575" tIns="34275" rIns="68575" bIns="34275" rtlCol="0" anchor="b" anchorCtr="0"/>
                <a:lstStyle/>
                <a:p>
                  <a:pPr algn="l">
                    <a:defRPr/>
                  </a:pPr>
                  <a:r>
                    <a:rPr lang="en-US" sz="6600" b="0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03</a:t>
                  </a:r>
                  <a:endParaRPr lang="en-US" sz="1100"/>
                </a:p>
              </p:txBody>
            </p:sp>
          </p:grpSp>
          <p:grpSp>
            <p:nvGrpSpPr>
              <p:cNvPr id="16" name="Group 16"/>
              <p:cNvGrpSpPr/>
              <p:nvPr/>
            </p:nvGrpSpPr>
            <p:grpSpPr>
              <a:xfrm rot="0">
                <a:off x="8958907" y="2158366"/>
                <a:ext cx="2499246" cy="1892820"/>
                <a:chOff x="8958907" y="2158366"/>
                <a:chExt cx="2499246" cy="1892820"/>
              </a:xfrm>
            </p:grpSpPr>
            <p:sp>
              <p:nvSpPr>
                <p:cNvPr id="17" name="TextBox 17"/>
                <p:cNvSpPr txBox="1"/>
                <p:nvPr/>
              </p:nvSpPr>
              <p:spPr>
                <a:xfrm>
                  <a:off x="8958907" y="3276913"/>
                  <a:ext cx="2499245" cy="77427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技术能力总结与展望</a:t>
                  </a:r>
                  <a:endParaRPr lang="en-US" sz="1100"/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8958907" y="2158366"/>
                  <a:ext cx="2499246" cy="1118546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68575" tIns="34275" rIns="68575" bIns="34275" rtlCol="0" anchor="b" anchorCtr="0"/>
                <a:lstStyle/>
                <a:p>
                  <a:pPr algn="l">
                    <a:defRPr/>
                  </a:pPr>
                  <a:r>
                    <a:rPr lang="en-US" sz="6600" b="0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04</a:t>
                  </a:r>
                  <a:endParaRPr lang="en-US" sz="1100"/>
                </a:p>
              </p:txBody>
            </p:sp>
          </p:grpSp>
        </p:grpSp>
        <p:sp>
          <p:nvSpPr>
            <p:cNvPr id="19" name="AutoShape 19"/>
            <p:cNvSpPr/>
            <p:nvPr/>
          </p:nvSpPr>
          <p:spPr>
            <a:xfrm>
              <a:off x="660400" y="2085820"/>
              <a:ext cx="2072821" cy="579555"/>
            </a:xfrm>
            <a:prstGeom prst="rect">
              <a:avLst/>
            </a:prstGeom>
            <a:ln>
              <a:headEnd type="none"/>
              <a:tailEnd type="none"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89650" y="1628620"/>
            <a:ext cx="9000000" cy="2160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54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个人简介与背景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1589650" y="3904456"/>
            <a:ext cx="9000000" cy="110499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了解我的教育背景、技术方向、实习目标与定位</a:t>
            </a:r>
            <a:endParaRPr lang="en-US" sz="1100"/>
          </a:p>
        </p:txBody>
      </p:sp>
      <p:pic>
        <p:nvPicPr>
          <p:cNvPr id="7" name="图片 6" descr="WPS图片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902460" cy="690880"/>
          </a:xfrm>
          <a:prstGeom prst="rect">
            <a:avLst/>
          </a:prstGeom>
        </p:spPr>
      </p:pic>
      <p:pic>
        <p:nvPicPr>
          <p:cNvPr id="8" name="图片 7" descr="OIP-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6200" y="0"/>
            <a:ext cx="659765" cy="6527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e4c110d-b764-454b-9018-a5263d72a717"/>
          <p:cNvGrpSpPr/>
          <p:nvPr>
            <p:custDataLst>
              <p:tags r:id="rId1"/>
            </p:custDataLst>
          </p:nvPr>
        </p:nvGrpSpPr>
        <p:grpSpPr>
          <a:xfrm rot="0">
            <a:off x="660399" y="1130301"/>
            <a:ext cx="10858501" cy="5003799"/>
            <a:chOff x="660399" y="1130301"/>
            <a:chExt cx="10858501" cy="5003799"/>
          </a:xfrm>
        </p:grpSpPr>
        <p:sp>
          <p:nvSpPr>
            <p:cNvPr id="3" name="TextBox 3"/>
            <p:cNvSpPr txBox="1"/>
            <p:nvPr/>
          </p:nvSpPr>
          <p:spPr>
            <a:xfrm>
              <a:off x="660399" y="1130301"/>
              <a:ext cx="10858500" cy="48006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基本信息一览</a:t>
              </a:r>
              <a:endParaRPr lang="en-US" sz="110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4378325" y="1695450"/>
              <a:ext cx="3422650" cy="146050"/>
            </a:xfrm>
            <a:prstGeom prst="roundRect">
              <a:avLst>
                <a:gd name="adj" fmla="val 50000"/>
              </a:avLst>
            </a:prstGeom>
            <a:ln w="1270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>
              <p:custDataLst>
                <p:tags r:id="rId2"/>
              </p:custDataLst>
            </p:nvPr>
          </p:nvSpPr>
          <p:spPr>
            <a:xfrm>
              <a:off x="660400" y="2082800"/>
              <a:ext cx="10858500" cy="1711960"/>
            </a:xfrm>
            <a:prstGeom prst="roundRect">
              <a:avLst>
                <a:gd name="adj" fmla="val 50000"/>
              </a:avLst>
            </a:prstGeom>
            <a:ln w="1270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6" name="Group 6"/>
            <p:cNvGrpSpPr/>
            <p:nvPr/>
          </p:nvGrpSpPr>
          <p:grpSpPr>
            <a:xfrm rot="0">
              <a:off x="660400" y="2428261"/>
              <a:ext cx="2389028" cy="3705839"/>
              <a:chOff x="660400" y="2428261"/>
              <a:chExt cx="2389028" cy="3705839"/>
            </a:xfrm>
          </p:grpSpPr>
          <p:sp>
            <p:nvSpPr>
              <p:cNvPr id="7" name="TextBox 7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660400" y="4090070"/>
                <a:ext cx="2389028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教育背景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60400" y="4864941"/>
                <a:ext cx="2389028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东北大学自动化专业，985/211高校，具备扎实的</a:t>
                </a:r>
                <a:r>
                  <a:rPr lang="zh-CN" alt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数理</a:t>
                </a: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基础。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165860" y="2428261"/>
                <a:ext cx="1378108" cy="9325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4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3483557" y="2428261"/>
              <a:ext cx="2389028" cy="3705839"/>
              <a:chOff x="660400" y="2428261"/>
              <a:chExt cx="2389028" cy="3705839"/>
            </a:xfrm>
          </p:grpSpPr>
          <p:sp>
            <p:nvSpPr>
              <p:cNvPr id="11" name="TextBox 11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660400" y="4090070"/>
                <a:ext cx="2389028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技术方向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660400" y="4864941"/>
                <a:ext cx="2389028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buClrTx/>
                  <a:buSzTx/>
                  <a:buFontTx/>
                  <a:defRPr/>
                </a:pPr>
                <a:r>
                  <a:rPr lang="zh-CN" altLang="en-US" sz="120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擅长</a:t>
                </a:r>
                <a:r>
                  <a:rPr lang="en-US" sz="120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基于arm-cortx内核下的stm32+freertos嵌入式软件开发</a:t>
                </a:r>
                <a:r>
                  <a:rPr lang="zh-CN" altLang="en-US" sz="120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、</a:t>
                </a:r>
                <a:endParaRPr lang="zh-CN" altLang="en-US" sz="120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l">
                  <a:lnSpc>
                    <a:spcPct val="120000"/>
                  </a:lnSpc>
                  <a:buClrTx/>
                  <a:buSzTx/>
                  <a:buFontTx/>
                  <a:defRPr/>
                </a:pPr>
                <a:r>
                  <a:rPr lang="zh-CN" altLang="en-US" sz="120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掌握</a:t>
                </a:r>
                <a:r>
                  <a:rPr lang="en-US" altLang="zh-CN" sz="120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Linux</a:t>
                </a:r>
                <a:r>
                  <a:rPr lang="zh-CN" altLang="en-US" sz="120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应用开发的</a:t>
                </a:r>
                <a:r>
                  <a:rPr lang="zh-CN" altLang="en-US" sz="120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基础。</a:t>
                </a:r>
                <a:endParaRPr lang="zh-CN" altLang="en-US" sz="120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3" name="TextBox 13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165860" y="2428261"/>
                <a:ext cx="1378108" cy="9325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4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6306714" y="2428261"/>
              <a:ext cx="2389028" cy="3705839"/>
              <a:chOff x="660400" y="2428261"/>
              <a:chExt cx="2389028" cy="3705839"/>
            </a:xfrm>
          </p:grpSpPr>
          <p:sp>
            <p:nvSpPr>
              <p:cNvPr id="15" name="TextBox 15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660400" y="4090070"/>
                <a:ext cx="2389028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实习目标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60400" y="4864941"/>
                <a:ext cx="2389028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希望从事嵌入式软件开发工作，</a:t>
                </a:r>
                <a:r>
                  <a:rPr lang="zh-CN" alt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涉及</a:t>
                </a:r>
                <a:r>
                  <a:rPr lang="en-US" altLang="zh-CN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Linux</a:t>
                </a:r>
                <a:r>
                  <a:rPr lang="zh-CN" alt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应用</a:t>
                </a:r>
                <a:r>
                  <a:rPr lang="en-US" altLang="zh-CN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/</a:t>
                </a:r>
                <a:r>
                  <a:rPr lang="zh-CN" alt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驱动开发，以拓展自己的技术栈，提高技术力</a:t>
                </a: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165860" y="2428261"/>
                <a:ext cx="1378108" cy="9325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4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0">
              <a:off x="9129872" y="2428261"/>
              <a:ext cx="2389028" cy="3705839"/>
              <a:chOff x="660400" y="2428261"/>
              <a:chExt cx="2389028" cy="3705839"/>
            </a:xfrm>
          </p:grpSpPr>
          <p:sp>
            <p:nvSpPr>
              <p:cNvPr id="19" name="TextBox 19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660400" y="4090070"/>
                <a:ext cx="2389028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一句话定位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660400" y="4864941"/>
                <a:ext cx="2389028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zh-CN" alt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在一定程度上</a:t>
                </a: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能独立完成嵌入式系统从底层驱动到上层逻辑设计的学生开发者。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165860" y="2428261"/>
                <a:ext cx="1378108" cy="9325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4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个人简介</a:t>
            </a:r>
            <a:endParaRPr lang="en-US" sz="1100"/>
          </a:p>
        </p:txBody>
      </p:sp>
      <p:pic>
        <p:nvPicPr>
          <p:cNvPr id="24" name="图片 23" descr="OIP-C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506200" y="0"/>
            <a:ext cx="659765" cy="6527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89650" y="1628620"/>
            <a:ext cx="9000000" cy="2160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54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智能汽车竞赛项目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1589650" y="3904456"/>
            <a:ext cx="9000000" cy="110499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介绍智能汽车竞赛项目的内容、技术、难点与成果</a:t>
            </a:r>
            <a:endParaRPr lang="en-US" sz="1100"/>
          </a:p>
        </p:txBody>
      </p:sp>
      <p:pic>
        <p:nvPicPr>
          <p:cNvPr id="7" name="图片 6" descr="WPS图片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902460" cy="690880"/>
          </a:xfrm>
          <a:prstGeom prst="rect">
            <a:avLst/>
          </a:prstGeom>
        </p:spPr>
      </p:pic>
      <p:pic>
        <p:nvPicPr>
          <p:cNvPr id="8" name="图片 7" descr="OIP-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6200" y="0"/>
            <a:ext cx="659765" cy="6527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23f6b8e-1c35-4ec8-a137-f4f64c05d7d8"/>
          <p:cNvGrpSpPr/>
          <p:nvPr>
            <p:custDataLst>
              <p:tags r:id="rId1"/>
            </p:custDataLst>
          </p:nvPr>
        </p:nvGrpSpPr>
        <p:grpSpPr>
          <a:xfrm rot="0">
            <a:off x="660399" y="1130304"/>
            <a:ext cx="10858501" cy="5003796"/>
            <a:chOff x="660399" y="1130304"/>
            <a:chExt cx="10858501" cy="5003796"/>
          </a:xfrm>
        </p:grpSpPr>
        <p:sp>
          <p:nvSpPr>
            <p:cNvPr id="3" name="AutoShape 3"/>
            <p:cNvSpPr/>
            <p:nvPr>
              <p:custDataLst>
                <p:tags r:id="rId2"/>
              </p:custDataLst>
            </p:nvPr>
          </p:nvSpPr>
          <p:spPr>
            <a:xfrm>
              <a:off x="1787076" y="3346423"/>
              <a:ext cx="2632524" cy="0"/>
            </a:xfrm>
            <a:prstGeom prst="line">
              <a:avLst/>
            </a:prstGeom>
            <a:ln w="9525">
              <a:solidFill>
                <a:srgbClr val="6323F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>
              <p:custDataLst>
                <p:tags r:id="rId3"/>
              </p:custDataLst>
            </p:nvPr>
          </p:nvSpPr>
          <p:spPr>
            <a:xfrm>
              <a:off x="4915441" y="3346423"/>
              <a:ext cx="2343596" cy="0"/>
            </a:xfrm>
            <a:prstGeom prst="line">
              <a:avLst/>
            </a:prstGeom>
            <a:ln w="9525">
              <a:solidFill>
                <a:srgbClr val="6323F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>
              <p:custDataLst>
                <p:tags r:id="rId4"/>
              </p:custDataLst>
            </p:nvPr>
          </p:nvSpPr>
          <p:spPr>
            <a:xfrm>
              <a:off x="7741405" y="3346423"/>
              <a:ext cx="2650819" cy="0"/>
            </a:xfrm>
            <a:prstGeom prst="line">
              <a:avLst/>
            </a:prstGeom>
            <a:ln w="9525">
              <a:solidFill>
                <a:srgbClr val="6323F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60399" y="1130304"/>
              <a:ext cx="10858500" cy="1372263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项目基本情况</a:t>
              </a:r>
              <a:endParaRPr lang="en-US" sz="1100"/>
            </a:p>
          </p:txBody>
        </p:sp>
        <p:grpSp>
          <p:nvGrpSpPr>
            <p:cNvPr id="7" name="Group 7"/>
            <p:cNvGrpSpPr/>
            <p:nvPr/>
          </p:nvGrpSpPr>
          <p:grpSpPr>
            <a:xfrm rot="0">
              <a:off x="660400" y="3105239"/>
              <a:ext cx="2405752" cy="3028861"/>
              <a:chOff x="402360" y="3105239"/>
              <a:chExt cx="2405752" cy="3028861"/>
            </a:xfrm>
          </p:grpSpPr>
          <p:sp>
            <p:nvSpPr>
              <p:cNvPr id="8" name="TextBox 8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349069" y="3105239"/>
                <a:ext cx="482368" cy="482368"/>
              </a:xfrm>
              <a:prstGeom prst="roundRect">
                <a:avLst/>
              </a:prstGeom>
              <a:solidFill>
                <a:srgbClr val="005CB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402360" y="3669609"/>
                <a:ext cx="2405752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项目名称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02360" y="4462062"/>
                <a:ext cx="2405752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全国大学生智能汽车竞赛 - 智慧医疗</a:t>
                </a:r>
                <a:r>
                  <a:rPr lang="zh-CN" alt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组</a:t>
                </a:r>
                <a:endParaRPr lang="zh-CN" altLang="en-US" sz="1200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0">
              <a:off x="3477983" y="3105239"/>
              <a:ext cx="2405752" cy="3028861"/>
              <a:chOff x="2643678" y="3105239"/>
              <a:chExt cx="2405752" cy="3028861"/>
            </a:xfrm>
          </p:grpSpPr>
          <p:sp>
            <p:nvSpPr>
              <p:cNvPr id="12" name="TextBox 12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3598768" y="3105239"/>
                <a:ext cx="482368" cy="482368"/>
              </a:xfrm>
              <a:prstGeom prst="roundRect">
                <a:avLst/>
              </a:prstGeom>
              <a:solidFill>
                <a:srgbClr val="005CB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2643678" y="3669609"/>
                <a:ext cx="2405752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b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角色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2643678" y="4462062"/>
                <a:ext cx="2405752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在项目中担任</a:t>
                </a:r>
                <a:r>
                  <a:rPr lang="zh-CN" altLang="en-US" sz="120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嵌入式</a:t>
                </a:r>
                <a:r>
                  <a:rPr lang="en-US" sz="120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技术核心</a:t>
                </a:r>
                <a:r>
                  <a:rPr lang="zh-CN" altLang="en-US" sz="120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（软件</a:t>
                </a:r>
                <a:r>
                  <a:rPr lang="en-US" altLang="zh-CN" sz="120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+</a:t>
                </a:r>
                <a:r>
                  <a:rPr lang="zh-CN" altLang="en-US" sz="120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硬件）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6295566" y="3105239"/>
              <a:ext cx="2405752" cy="3028861"/>
              <a:chOff x="4884996" y="3105239"/>
              <a:chExt cx="2405752" cy="3028861"/>
            </a:xfrm>
          </p:grpSpPr>
          <p:sp>
            <p:nvSpPr>
              <p:cNvPr id="16" name="TextBox 16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5848467" y="3105239"/>
                <a:ext cx="482368" cy="482368"/>
              </a:xfrm>
              <a:prstGeom prst="roundRect">
                <a:avLst/>
              </a:prstGeom>
              <a:solidFill>
                <a:srgbClr val="005CB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4884996" y="3669609"/>
                <a:ext cx="2405752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b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目标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4884996" y="4462062"/>
                <a:ext cx="2405752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zh-CN" alt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基于 </a:t>
                </a:r>
                <a:r>
                  <a:rPr lang="en-US" altLang="zh-CN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STM32F4 </a:t>
                </a:r>
                <a:r>
                  <a:rPr lang="zh-CN" alt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设计可实时接收上位机速度数据控制车模移动的软件框架</a:t>
                </a:r>
                <a:endParaRPr lang="zh-CN" altLang="en-US" sz="1200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8991863" y="3105239"/>
              <a:ext cx="2527037" cy="3028861"/>
              <a:chOff x="7005029" y="3105239"/>
              <a:chExt cx="2527037" cy="3028861"/>
            </a:xfrm>
          </p:grpSpPr>
          <p:sp>
            <p:nvSpPr>
              <p:cNvPr id="20" name="TextBox 20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8098164" y="3105239"/>
                <a:ext cx="482368" cy="482368"/>
              </a:xfrm>
              <a:prstGeom prst="roundRect">
                <a:avLst/>
              </a:prstGeom>
              <a:solidFill>
                <a:srgbClr val="005CB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7005029" y="3669609"/>
                <a:ext cx="2405752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buClrTx/>
                  <a:buSzTx/>
                  <a:buFontTx/>
                  <a:defRPr/>
                </a:pPr>
                <a:r>
                  <a:rPr lang="en-US" sz="1800" b="1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内容</a:t>
                </a:r>
                <a:endParaRPr lang="en-US" sz="1800" b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2" name="TextBox 22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7126314" y="4462062"/>
                <a:ext cx="2405752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altLang="zh-CN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1</a:t>
                </a:r>
                <a:r>
                  <a:rPr lang="zh-CN" alt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、通过</a:t>
                </a:r>
                <a:r>
                  <a:rPr lang="en-US" altLang="zh-CN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freertos</a:t>
                </a:r>
                <a:r>
                  <a:rPr lang="zh-CN" alt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创建并管理多个任务：</a:t>
                </a:r>
                <a:r>
                  <a:rPr lang="en-US" altLang="zh-CN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chassis_task</a:t>
                </a:r>
                <a:r>
                  <a:rPr lang="zh-CN" alt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、</a:t>
                </a:r>
                <a:r>
                  <a:rPr lang="en-US" altLang="zh-CN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oled_task</a:t>
                </a:r>
                <a:r>
                  <a:rPr lang="zh-CN" alt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、</a:t>
                </a:r>
                <a:r>
                  <a:rPr lang="en-US" altLang="zh-CN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uart_tx_task</a:t>
                </a:r>
                <a:r>
                  <a:rPr lang="zh-CN" alt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、</a:t>
                </a:r>
                <a:r>
                  <a:rPr lang="en-US" altLang="zh-CN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alive_check_task</a:t>
                </a:r>
                <a:r>
                  <a:rPr lang="zh-CN" alt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endParaRPr lang="zh-CN" altLang="en-US" sz="1200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>
                  <a:lnSpc>
                    <a:spcPct val="120000"/>
                  </a:lnSpc>
                  <a:defRPr/>
                </a:pPr>
                <a:r>
                  <a:rPr lang="en-US" altLang="zh-CN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2</a:t>
                </a:r>
                <a:r>
                  <a:rPr lang="zh-CN" alt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、配置</a:t>
                </a:r>
                <a:r>
                  <a:rPr lang="en-US" altLang="zh-CN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UART</a:t>
                </a:r>
                <a:r>
                  <a:rPr lang="zh-CN" alt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空闲中断</a:t>
                </a:r>
                <a:r>
                  <a:rPr lang="en-US" altLang="zh-CN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+DMA</a:t>
                </a:r>
                <a:r>
                  <a:rPr lang="zh-CN" alt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接收，实现中断的快速响应、低延迟</a:t>
                </a:r>
                <a:r>
                  <a:rPr lang="zh-CN" alt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效果。</a:t>
                </a:r>
                <a:endParaRPr lang="zh-CN" altLang="en-US" sz="1200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>
                  <a:lnSpc>
                    <a:spcPct val="120000"/>
                  </a:lnSpc>
                  <a:defRPr/>
                </a:pPr>
                <a:endParaRPr lang="zh-CN" altLang="en-US" sz="1200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>
                  <a:lnSpc>
                    <a:spcPct val="120000"/>
                  </a:lnSpc>
                  <a:defRPr/>
                </a:pPr>
                <a:endParaRPr lang="en-US" sz="1100"/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项目概览</a:t>
            </a:r>
            <a:endParaRPr lang="en-US" sz="1100"/>
          </a:p>
        </p:txBody>
      </p:sp>
      <p:pic>
        <p:nvPicPr>
          <p:cNvPr id="27" name="图片 26" descr="OIP-C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506200" y="0"/>
            <a:ext cx="659765" cy="6527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" name="TextBox 33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系统架构图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660400" y="1130300"/>
            <a:ext cx="10858500" cy="593725"/>
          </a:xfrm>
          <a:prstGeom prst="rect">
            <a:avLst/>
          </a:prstGeom>
          <a:solidFill>
            <a:srgbClr val="005CB0">
              <a:alpha val="100000"/>
            </a:srgbClr>
          </a:solidFill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r>
              <a:rPr lang="en-US" sz="24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系统架构展示</a:t>
            </a:r>
            <a:endParaRPr lang="en-US" sz="1100"/>
          </a:p>
        </p:txBody>
      </p:sp>
      <p:sp>
        <p:nvSpPr>
          <p:cNvPr id="8" name="文本框 7"/>
          <p:cNvSpPr txBox="1"/>
          <p:nvPr/>
        </p:nvSpPr>
        <p:spPr>
          <a:xfrm>
            <a:off x="7142480" y="2122170"/>
            <a:ext cx="4064000" cy="1645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zh-CN" altLang="en-US" b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外设</a:t>
            </a:r>
            <a:r>
              <a:rPr lang="en-US" b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数据流：</a:t>
            </a:r>
            <a:br>
              <a:rPr lang="zh-CN" altLang="en-US"/>
            </a:b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uart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通讯数据流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b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接收端与发送端双向异步通讯</a:t>
            </a:r>
            <a:b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tim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数据流：</a:t>
            </a:r>
            <a:b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使能为编码器模式，读取编码器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A/B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相脉冲输出</a:t>
            </a:r>
            <a:b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IIC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数据流：</a:t>
            </a:r>
            <a:b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mcu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作为主机与从机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OLED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进行同步通讯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162800" y="411480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控制流</a:t>
            </a:r>
            <a:r>
              <a:rPr lang="zh-CN" altLang="en-US" b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en-US"/>
          </a:p>
          <a:p>
            <a:r>
              <a:rPr lang="zh-CN" altLang="en-US" sz="14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由 </a:t>
            </a:r>
            <a:r>
              <a:rPr lang="en-US" altLang="zh-CN" sz="14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FreeRTOS </a:t>
            </a:r>
            <a:r>
              <a:rPr lang="zh-CN" altLang="en-US" sz="14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任务调度与中断服务程序协同驱动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122170"/>
            <a:ext cx="5573395" cy="3297555"/>
          </a:xfrm>
          <a:prstGeom prst="rect">
            <a:avLst/>
          </a:prstGeom>
        </p:spPr>
      </p:pic>
      <p:pic>
        <p:nvPicPr>
          <p:cNvPr id="2" name="图片 1" descr="OIP-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6200" y="0"/>
            <a:ext cx="659765" cy="6527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348004e-54f1-4031-a734-3b6d6801ea33"/>
          <p:cNvGrpSpPr/>
          <p:nvPr>
            <p:custDataLst>
              <p:tags r:id="rId1"/>
            </p:custDataLst>
          </p:nvPr>
        </p:nvGrpSpPr>
        <p:grpSpPr>
          <a:xfrm rot="0">
            <a:off x="0" y="990388"/>
            <a:ext cx="12192000" cy="5867612"/>
            <a:chOff x="0" y="990388"/>
            <a:chExt cx="12192000" cy="5867612"/>
          </a:xfrm>
        </p:grpSpPr>
        <p:sp>
          <p:nvSpPr>
            <p:cNvPr id="3" name="AutoShape 3"/>
            <p:cNvSpPr/>
            <p:nvPr/>
          </p:nvSpPr>
          <p:spPr>
            <a:xfrm>
              <a:off x="0" y="6692900"/>
              <a:ext cx="12192000" cy="165100"/>
            </a:xfrm>
            <a:custGeom>
              <a:avLst/>
              <a:gdLst/>
              <a:ahLst/>
              <a:cxnLst/>
              <a:rect l="l" t="t" r="r" b="b"/>
              <a:pathLst>
                <a:path w="12192000" h="165100">
                  <a:moveTo>
                    <a:pt x="0" y="0"/>
                  </a:moveTo>
                  <a:lnTo>
                    <a:pt x="12192000" y="0"/>
                  </a:lnTo>
                  <a:lnTo>
                    <a:pt x="12192000" y="165100"/>
                  </a:lnTo>
                  <a:lnTo>
                    <a:pt x="0" y="165100"/>
                  </a:lnTo>
                  <a:close/>
                </a:path>
              </a:pathLst>
            </a:custGeom>
            <a:solidFill>
              <a:srgbClr val="005CB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 rot="0">
              <a:off x="457199" y="990388"/>
              <a:ext cx="9705975" cy="2349500"/>
              <a:chOff x="457199" y="990388"/>
              <a:chExt cx="9705975" cy="2349500"/>
            </a:xfrm>
          </p:grpSpPr>
          <p:sp>
            <p:nvSpPr>
              <p:cNvPr id="6" name="TextBox 6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457199" y="1599989"/>
                <a:ext cx="5027179" cy="52224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FreeRTOS任务设计</a:t>
                </a:r>
                <a:r>
                  <a:rPr lang="zh-CN" alt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原则</a:t>
                </a:r>
                <a:endParaRPr lang="zh-CN" altLang="en-US" sz="1800" b="1" i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7" name="TextBox 7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457199" y="2209588"/>
                <a:ext cx="9705975" cy="11303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altLang="zh-CN" sz="14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1</a:t>
                </a:r>
                <a:r>
                  <a:rPr lang="zh-CN" altLang="en-US" sz="14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、按照功能模块划分为四个任务</a:t>
                </a:r>
                <a:br>
                  <a:rPr lang="zh-CN" altLang="en-US" sz="14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</a:br>
                <a:r>
                  <a:rPr lang="en-US" altLang="zh-CN" sz="14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2</a:t>
                </a:r>
                <a:r>
                  <a:rPr lang="zh-CN" altLang="en-US" sz="14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、按照实时性要求分配任务优先级</a:t>
                </a:r>
                <a:endPara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l">
                  <a:lnSpc>
                    <a:spcPct val="120000"/>
                  </a:lnSpc>
                  <a:defRPr/>
                </a:pPr>
                <a:r>
                  <a:rPr lang="en-US" altLang="zh-CN" sz="14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3</a:t>
                </a:r>
                <a:r>
                  <a:rPr lang="zh-CN" altLang="en-US" sz="14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、从小开始逐步增加，使用</a:t>
                </a:r>
                <a:r>
                  <a:rPr lang="en-US" altLang="zh-CN" sz="14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uxTaskGetStackHighWaterMark</a:t>
                </a:r>
                <a:r>
                  <a:rPr lang="zh-CN" altLang="en-US" sz="14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监控任务栈剩余空间，以此考虑任务调用深度和局部变量</a:t>
                </a:r>
                <a:br>
                  <a:rPr lang="zh-CN" altLang="en-US" sz="14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</a:br>
                <a:endParaRPr lang="zh-CN" altLang="en-US" sz="14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8" name="TextBox 8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533399" y="990388"/>
                <a:ext cx="5027179" cy="73024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3200" b="1" i="0">
                    <a:solidFill>
                      <a:srgbClr val="005CB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01.</a:t>
                </a:r>
                <a:endParaRPr lang="en-US" sz="1100"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关键技术点分解</a:t>
            </a:r>
            <a:endParaRPr lang="en-US" sz="110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124200"/>
            <a:ext cx="9804400" cy="3359785"/>
          </a:xfrm>
          <a:prstGeom prst="rect">
            <a:avLst/>
          </a:prstGeom>
        </p:spPr>
      </p:pic>
      <p:pic>
        <p:nvPicPr>
          <p:cNvPr id="4" name="图片 3" descr="OIP-C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06200" y="0"/>
            <a:ext cx="659765" cy="6527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TextBox 21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关键技术点分解</a:t>
            </a:r>
            <a:endParaRPr lang="en-US" sz="1100"/>
          </a:p>
        </p:txBody>
      </p:sp>
      <p:sp>
        <p:nvSpPr>
          <p:cNvPr id="8" name="TextBox 8"/>
          <p:cNvSpPr txBox="1"/>
          <p:nvPr>
            <p:custDataLst>
              <p:tags r:id="rId1"/>
            </p:custDataLst>
          </p:nvPr>
        </p:nvSpPr>
        <p:spPr>
          <a:xfrm>
            <a:off x="533399" y="835448"/>
            <a:ext cx="5027179" cy="730249"/>
          </a:xfrm>
          <a:prstGeom prst="rect">
            <a:avLst/>
          </a:prstGeom>
          <a:ln>
            <a:prstDash val="solid"/>
            <a:headEnd type="none"/>
            <a:tailEnd type="none"/>
          </a:ln>
        </p:spPr>
        <p:txBody>
          <a:bodyPr vert="horz" wrap="none" lIns="91440" tIns="45720" rIns="91440" bIns="45720" rtlCol="0" anchor="b" anchorCtr="0"/>
          <a:lstStyle/>
          <a:p>
            <a:pPr algn="l">
              <a:defRPr/>
            </a:pPr>
            <a:r>
              <a:rPr lang="en-US" sz="3200" b="1" i="0">
                <a:solidFill>
                  <a:srgbClr val="005C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02.</a:t>
            </a:r>
            <a:endParaRPr lang="en-US" sz="1100"/>
          </a:p>
        </p:txBody>
      </p:sp>
      <p:sp>
        <p:nvSpPr>
          <p:cNvPr id="3" name="文本框 2"/>
          <p:cNvSpPr txBox="1"/>
          <p:nvPr/>
        </p:nvSpPr>
        <p:spPr>
          <a:xfrm>
            <a:off x="1308735" y="20396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6" name="TextBox 6"/>
          <p:cNvSpPr txBox="1"/>
          <p:nvPr>
            <p:custDataLst>
              <p:tags r:id="rId2"/>
            </p:custDataLst>
          </p:nvPr>
        </p:nvSpPr>
        <p:spPr>
          <a:xfrm>
            <a:off x="1308734" y="939589"/>
            <a:ext cx="5027179" cy="52224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defRPr/>
            </a:pPr>
            <a:r>
              <a:rPr lang="en-US" altLang="zh-CN" sz="1800" b="1" i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UART</a:t>
            </a:r>
            <a:r>
              <a:rPr lang="zh-CN" altLang="en-US" sz="1800" b="1" i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通讯</a:t>
            </a:r>
            <a:endParaRPr lang="zh-CN" altLang="en-US" sz="1800" b="1" i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59080" y="1461770"/>
            <a:ext cx="4432300" cy="716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驱动层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：采用串口空闲中断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+DMA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接收与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发送机制</a:t>
            </a:r>
            <a:br>
              <a:rPr lang="zh-CN" altLang="en-US"/>
            </a:br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" y="5410200"/>
            <a:ext cx="5565140" cy="135191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80" y="4192905"/>
            <a:ext cx="5767705" cy="113474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2133600"/>
            <a:ext cx="2012315" cy="170307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28600" y="1809115"/>
            <a:ext cx="5225415" cy="662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、定义UART通信处理结构体、作为与设备层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交互的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59080" y="388620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2、定义驱动层函数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181600" y="255905"/>
            <a:ext cx="7165340" cy="580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设备层</a:t>
            </a:r>
            <a:r>
              <a:rPr lang="zh-CN" altLang="en-US"/>
              <a:t>：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在设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备类中添加UART通信处理结构体指针变量，用于绑定驱动层已经声明的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UART1_Manage_Object结构体。</a:t>
            </a:r>
            <a:br>
              <a:rPr lang="zh-CN" altLang="en-US"/>
            </a:br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1272540"/>
            <a:ext cx="6851650" cy="154622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2856230"/>
            <a:ext cx="4972050" cy="134747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5257800" y="90424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定义设备层函数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248400" y="426402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交互层</a:t>
            </a:r>
            <a:r>
              <a:rPr lang="zh-CN" altLang="en-US"/>
              <a:t>：</a:t>
            </a:r>
            <a:br>
              <a:rPr lang="zh-CN" altLang="en-US"/>
            </a:br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3450" y="5683885"/>
            <a:ext cx="6178550" cy="115570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67400" y="4800600"/>
            <a:ext cx="5289550" cy="4953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13450" y="5271135"/>
            <a:ext cx="4191000" cy="412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400cb9c6-44fe-4493-bb62-c273d65afc23"/>
          <p:cNvGrpSpPr/>
          <p:nvPr>
            <p:custDataLst>
              <p:tags r:id="rId1"/>
            </p:custDataLst>
          </p:nvPr>
        </p:nvGrpSpPr>
        <p:grpSpPr>
          <a:xfrm rot="0">
            <a:off x="0" y="0"/>
            <a:ext cx="12192000" cy="6858000"/>
            <a:chOff x="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3598742" cy="1297322"/>
            </a:xfrm>
            <a:custGeom>
              <a:avLst/>
              <a:gdLst/>
              <a:ahLst/>
              <a:cxnLst/>
              <a:rect l="l" t="t" r="r" b="b"/>
              <a:pathLst>
                <a:path w="3598742" h="1297322">
                  <a:moveTo>
                    <a:pt x="0" y="0"/>
                  </a:moveTo>
                  <a:lnTo>
                    <a:pt x="3598742" y="0"/>
                  </a:lnTo>
                  <a:lnTo>
                    <a:pt x="3193952" y="1297322"/>
                  </a:lnTo>
                  <a:lnTo>
                    <a:pt x="0" y="1297322"/>
                  </a:lnTo>
                  <a:close/>
                </a:path>
              </a:pathLst>
            </a:custGeom>
            <a:gradFill>
              <a:gsLst>
                <a:gs pos="0">
                  <a:srgbClr val="005CB0">
                    <a:alpha val="36078"/>
                    <a:lumMod val="75000"/>
                  </a:srgbClr>
                </a:gs>
                <a:gs pos="100000">
                  <a:srgbClr val="005CB0">
                    <a:alpha val="0"/>
                    <a:lumMod val="5000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8084627" y="6378760"/>
              <a:ext cx="4107373" cy="479240"/>
            </a:xfrm>
            <a:custGeom>
              <a:avLst/>
              <a:gdLst/>
              <a:ahLst/>
              <a:cxnLst/>
              <a:rect l="l" t="t" r="r" b="b"/>
              <a:pathLst>
                <a:path w="4107373" h="479240">
                  <a:moveTo>
                    <a:pt x="119810" y="0"/>
                  </a:moveTo>
                  <a:lnTo>
                    <a:pt x="4107373" y="0"/>
                  </a:lnTo>
                  <a:lnTo>
                    <a:pt x="4107373" y="479240"/>
                  </a:lnTo>
                  <a:lnTo>
                    <a:pt x="0" y="479240"/>
                  </a:lnTo>
                  <a:close/>
                </a:path>
              </a:pathLst>
            </a:custGeom>
            <a:gradFill>
              <a:gsLst>
                <a:gs pos="0">
                  <a:srgbClr val="005CB0">
                    <a:alpha val="50980"/>
                    <a:lumMod val="75000"/>
                  </a:srgbClr>
                </a:gs>
                <a:gs pos="100000">
                  <a:srgbClr val="005CB0">
                    <a:alpha val="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>
              <p:custDataLst>
                <p:tags r:id="rId2"/>
              </p:custDataLst>
            </p:nvPr>
          </p:nvSpPr>
          <p:spPr>
            <a:xfrm>
              <a:off x="1611830" y="2393893"/>
              <a:ext cx="9840164" cy="989509"/>
            </a:xfrm>
            <a:prstGeom prst="parallelogram">
              <a:avLst/>
            </a:prstGeom>
            <a:ln w="12700">
              <a:gradFill>
                <a:gsLst>
                  <a:gs pos="0">
                    <a:srgbClr val="005CB0">
                      <a:alpha val="100000"/>
                    </a:srgbClr>
                  </a:gs>
                  <a:gs pos="100000">
                    <a:srgbClr val="005CB0">
                      <a:alpha val="0"/>
                    </a:srgbClr>
                  </a:gs>
                </a:gsLst>
                <a:lin ang="8100000"/>
              </a:gra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>
              <p:custDataLst>
                <p:tags r:id="rId3"/>
              </p:custDataLst>
            </p:nvPr>
          </p:nvSpPr>
          <p:spPr>
            <a:xfrm>
              <a:off x="1742684" y="2479294"/>
              <a:ext cx="9776216" cy="989508"/>
            </a:xfrm>
            <a:prstGeom prst="parallelogram">
              <a:avLst/>
            </a:prstGeom>
            <a:gradFill>
              <a:gsLst>
                <a:gs pos="0">
                  <a:srgbClr val="005CB0">
                    <a:alpha val="50980"/>
                    <a:lumMod val="75000"/>
                  </a:srgbClr>
                </a:gs>
                <a:gs pos="100000">
                  <a:srgbClr val="005CB0">
                    <a:alpha val="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>
              <p:custDataLst>
                <p:tags r:id="rId4"/>
              </p:custDataLst>
            </p:nvPr>
          </p:nvSpPr>
          <p:spPr>
            <a:xfrm>
              <a:off x="1134948" y="3726544"/>
              <a:ext cx="9840164" cy="989508"/>
            </a:xfrm>
            <a:prstGeom prst="parallelogram">
              <a:avLst/>
            </a:prstGeom>
            <a:ln w="12700">
              <a:gradFill>
                <a:gsLst>
                  <a:gs pos="0">
                    <a:srgbClr val="005CB0">
                      <a:alpha val="100000"/>
                    </a:srgbClr>
                  </a:gs>
                  <a:gs pos="100000">
                    <a:srgbClr val="005CB0">
                      <a:alpha val="0"/>
                    </a:srgbClr>
                  </a:gs>
                </a:gsLst>
                <a:lin ang="8100000"/>
              </a:gradFill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>
              <p:custDataLst>
                <p:tags r:id="rId5"/>
              </p:custDataLst>
            </p:nvPr>
          </p:nvSpPr>
          <p:spPr>
            <a:xfrm>
              <a:off x="1265802" y="3811944"/>
              <a:ext cx="9776216" cy="989508"/>
            </a:xfrm>
            <a:prstGeom prst="parallelogram">
              <a:avLst/>
            </a:prstGeom>
            <a:gradFill>
              <a:gsLst>
                <a:gs pos="0">
                  <a:srgbClr val="005CB0">
                    <a:alpha val="50980"/>
                    <a:lumMod val="75000"/>
                  </a:srgbClr>
                </a:gs>
                <a:gs pos="100000">
                  <a:srgbClr val="005CB0">
                    <a:alpha val="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9" name="AutoShape 9"/>
            <p:cNvSpPr/>
            <p:nvPr>
              <p:custDataLst>
                <p:tags r:id="rId6"/>
              </p:custDataLst>
            </p:nvPr>
          </p:nvSpPr>
          <p:spPr>
            <a:xfrm>
              <a:off x="772009" y="5059191"/>
              <a:ext cx="9840164" cy="989508"/>
            </a:xfrm>
            <a:prstGeom prst="parallelogram">
              <a:avLst/>
            </a:prstGeom>
            <a:ln w="12700">
              <a:gradFill>
                <a:gsLst>
                  <a:gs pos="0">
                    <a:srgbClr val="005CB0">
                      <a:alpha val="100000"/>
                    </a:srgbClr>
                  </a:gs>
                  <a:gs pos="100000">
                    <a:srgbClr val="005CB0">
                      <a:alpha val="0"/>
                    </a:srgbClr>
                  </a:gs>
                </a:gsLst>
                <a:lin ang="8100000"/>
              </a:gradFill>
              <a:prstDash val="solid"/>
              <a:headEnd type="none"/>
              <a:tailEnd type="none"/>
            </a:ln>
          </p:spPr>
        </p:sp>
        <p:sp>
          <p:nvSpPr>
            <p:cNvPr id="10" name="AutoShape 10"/>
            <p:cNvSpPr/>
            <p:nvPr>
              <p:custDataLst>
                <p:tags r:id="rId7"/>
              </p:custDataLst>
            </p:nvPr>
          </p:nvSpPr>
          <p:spPr>
            <a:xfrm>
              <a:off x="902863" y="5144591"/>
              <a:ext cx="9776216" cy="989508"/>
            </a:xfrm>
            <a:prstGeom prst="parallelogram">
              <a:avLst/>
            </a:prstGeom>
            <a:gradFill>
              <a:gsLst>
                <a:gs pos="0">
                  <a:srgbClr val="005CB0">
                    <a:alpha val="50980"/>
                    <a:lumMod val="75000"/>
                  </a:srgbClr>
                </a:gs>
                <a:gs pos="100000">
                  <a:srgbClr val="005CB0">
                    <a:alpha val="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>
              <a:off x="3776998" y="6636564"/>
              <a:ext cx="8415002" cy="221436"/>
            </a:xfrm>
            <a:custGeom>
              <a:avLst/>
              <a:gdLst/>
              <a:ahLst/>
              <a:cxnLst/>
              <a:rect l="l" t="t" r="r" b="b"/>
              <a:pathLst>
                <a:path w="8415002" h="221436">
                  <a:moveTo>
                    <a:pt x="55359" y="0"/>
                  </a:moveTo>
                  <a:lnTo>
                    <a:pt x="8415002" y="0"/>
                  </a:lnTo>
                  <a:lnTo>
                    <a:pt x="8415002" y="221436"/>
                  </a:lnTo>
                  <a:lnTo>
                    <a:pt x="0" y="221436"/>
                  </a:lnTo>
                  <a:close/>
                </a:path>
              </a:pathLst>
            </a:custGeom>
            <a:gradFill>
              <a:gsLst>
                <a:gs pos="0">
                  <a:srgbClr val="005CB0">
                    <a:alpha val="36078"/>
                    <a:lumMod val="75000"/>
                  </a:srgbClr>
                </a:gs>
                <a:gs pos="100000">
                  <a:srgbClr val="005CB0">
                    <a:alpha val="0"/>
                    <a:lumMod val="5000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>
              <a:off x="1" y="723901"/>
              <a:ext cx="8084627" cy="221436"/>
            </a:xfrm>
            <a:custGeom>
              <a:avLst/>
              <a:gdLst/>
              <a:ahLst/>
              <a:cxnLst/>
              <a:rect l="l" t="t" r="r" b="b"/>
              <a:pathLst>
                <a:path w="8084627" h="221436">
                  <a:moveTo>
                    <a:pt x="0" y="0"/>
                  </a:moveTo>
                  <a:lnTo>
                    <a:pt x="8084627" y="0"/>
                  </a:lnTo>
                  <a:lnTo>
                    <a:pt x="8084627" y="221436"/>
                  </a:lnTo>
                  <a:lnTo>
                    <a:pt x="0" y="221436"/>
                  </a:lnTo>
                  <a:close/>
                </a:path>
              </a:pathLst>
            </a:custGeom>
            <a:gradFill>
              <a:gsLst>
                <a:gs pos="0">
                  <a:srgbClr val="005CB0">
                    <a:alpha val="36078"/>
                    <a:lumMod val="75000"/>
                  </a:srgbClr>
                </a:gs>
                <a:gs pos="100000">
                  <a:srgbClr val="005CB0">
                    <a:alpha val="0"/>
                    <a:lumMod val="5000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0400" y="1130300"/>
              <a:ext cx="10858500" cy="769687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1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项目成效展示</a:t>
              </a:r>
              <a:endParaRPr lang="en-US" sz="1100"/>
            </a:p>
          </p:txBody>
        </p:sp>
        <p:grpSp>
          <p:nvGrpSpPr>
            <p:cNvPr id="14" name="Group 14"/>
            <p:cNvGrpSpPr/>
            <p:nvPr/>
          </p:nvGrpSpPr>
          <p:grpSpPr>
            <a:xfrm rot="0">
              <a:off x="1674113" y="2157791"/>
              <a:ext cx="9196363" cy="1266926"/>
              <a:chOff x="1674113" y="2157791"/>
              <a:chExt cx="9196363" cy="1266926"/>
            </a:xfrm>
          </p:grpSpPr>
          <p:sp>
            <p:nvSpPr>
              <p:cNvPr id="15" name="TextBox 15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2643188" y="2522933"/>
                <a:ext cx="8227288" cy="4276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b="1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稳定运行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2643188" y="2974047"/>
                <a:ext cx="8227288" cy="45067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车模控制系统能够长时间稳定运行，满足比赛和实际需求。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674113" y="2157791"/>
                <a:ext cx="923701" cy="642114"/>
              </a:xfrm>
              <a:prstGeom prst="parallelogram">
                <a:avLst/>
              </a:prstGeom>
              <a:gradFill>
                <a:gsLst>
                  <a:gs pos="0">
                    <a:srgbClr val="005CB0">
                      <a:alpha val="100000"/>
                      <a:lumMod val="75000"/>
                    </a:srgbClr>
                  </a:gs>
                  <a:gs pos="88999">
                    <a:srgbClr val="005CB0">
                      <a:alpha val="100000"/>
                    </a:srgbClr>
                  </a:gs>
                </a:gsLst>
                <a:lin ang="13500000"/>
              </a:gradFill>
              <a:ln w="12700">
                <a:solidFill>
                  <a:srgbClr val="005CB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1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0">
              <a:off x="1254204" y="3490441"/>
              <a:ext cx="9139390" cy="1266925"/>
              <a:chOff x="1254204" y="3490441"/>
              <a:chExt cx="9139390" cy="1266925"/>
            </a:xfrm>
          </p:grpSpPr>
          <p:sp>
            <p:nvSpPr>
              <p:cNvPr id="19" name="TextBox 19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2166306" y="3855584"/>
                <a:ext cx="8227288" cy="4276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b="1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实时响应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2166306" y="4306697"/>
                <a:ext cx="8227288" cy="45066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系统对上位机指令能快速响应，确保控制的及时性。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1254204" y="3490441"/>
                <a:ext cx="923701" cy="642115"/>
              </a:xfrm>
              <a:prstGeom prst="parallelogram">
                <a:avLst/>
              </a:prstGeom>
              <a:gradFill>
                <a:gsLst>
                  <a:gs pos="0">
                    <a:srgbClr val="005CB0">
                      <a:alpha val="100000"/>
                      <a:lumMod val="75000"/>
                    </a:srgbClr>
                  </a:gs>
                  <a:gs pos="88999">
                    <a:srgbClr val="005CB0">
                      <a:alpha val="100000"/>
                    </a:srgbClr>
                  </a:gs>
                </a:gsLst>
                <a:lin ang="13500000"/>
              </a:gradFill>
              <a:ln w="12700">
                <a:solidFill>
                  <a:srgbClr val="005CB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1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834295" y="4823090"/>
              <a:ext cx="9196361" cy="1266923"/>
              <a:chOff x="834295" y="4823090"/>
              <a:chExt cx="9196361" cy="1266923"/>
            </a:xfrm>
          </p:grpSpPr>
          <p:sp>
            <p:nvSpPr>
              <p:cNvPr id="23" name="TextBox 23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803368" y="5188231"/>
                <a:ext cx="8227288" cy="4276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600" b="1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竞赛成果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1803368" y="5639344"/>
                <a:ext cx="8227288" cy="45066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在比赛中获得国家级一等奖，证明了项目的优秀水平。</a:t>
                </a:r>
                <a:endParaRPr lang="en-US" sz="1100"/>
              </a:p>
            </p:txBody>
          </p:sp>
          <p:sp>
            <p:nvSpPr>
              <p:cNvPr id="25" name="TextBox 25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834295" y="4823090"/>
                <a:ext cx="923701" cy="642114"/>
              </a:xfrm>
              <a:prstGeom prst="parallelogram">
                <a:avLst/>
              </a:prstGeom>
              <a:gradFill>
                <a:gsLst>
                  <a:gs pos="0">
                    <a:srgbClr val="005CB0">
                      <a:alpha val="100000"/>
                      <a:lumMod val="75000"/>
                    </a:srgbClr>
                  </a:gs>
                  <a:gs pos="88999">
                    <a:srgbClr val="005CB0">
                      <a:alpha val="100000"/>
                    </a:srgbClr>
                  </a:gs>
                </a:gsLst>
                <a:lin ang="13500000"/>
              </a:gradFill>
              <a:ln w="12700">
                <a:solidFill>
                  <a:srgbClr val="005CB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1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</p:grpSp>
      </p:grpSp>
      <p:sp>
        <p:nvSpPr>
          <p:cNvPr id="26" name="TextBox 26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项目成果与量化指标</a:t>
            </a:r>
            <a:endParaRPr lang="en-US" sz="1100"/>
          </a:p>
        </p:txBody>
      </p:sp>
      <p:pic>
        <p:nvPicPr>
          <p:cNvPr id="27" name="图片 26" descr="OIP-C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506200" y="0"/>
            <a:ext cx="659765" cy="6527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89650" y="1628620"/>
            <a:ext cx="9000000" cy="2160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5400" b="1" i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RoboMaster机器人项目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1589650" y="3904456"/>
            <a:ext cx="9000000" cy="110499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分享RoboMaster机器人项目的技术、难点与成果</a:t>
            </a:r>
            <a:endParaRPr lang="en-US" sz="1100"/>
          </a:p>
        </p:txBody>
      </p:sp>
      <p:pic>
        <p:nvPicPr>
          <p:cNvPr id="7" name="图片 6" descr="WPS图片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902460" cy="690880"/>
          </a:xfrm>
          <a:prstGeom prst="rect">
            <a:avLst/>
          </a:prstGeom>
        </p:spPr>
      </p:pic>
      <p:pic>
        <p:nvPicPr>
          <p:cNvPr id="8" name="图片 7" descr="OIP-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6200" y="0"/>
            <a:ext cx="659765" cy="6527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751e43f-fbe9-44a1-985c-e3ca5c22c50f"/>
          <p:cNvGrpSpPr/>
          <p:nvPr>
            <p:custDataLst>
              <p:tags r:id="rId1"/>
            </p:custDataLst>
          </p:nvPr>
        </p:nvGrpSpPr>
        <p:grpSpPr>
          <a:xfrm rot="0">
            <a:off x="695325" y="1040108"/>
            <a:ext cx="10801350" cy="5184183"/>
            <a:chOff x="695325" y="1040108"/>
            <a:chExt cx="10801350" cy="5184183"/>
          </a:xfrm>
        </p:grpSpPr>
        <p:sp>
          <p:nvSpPr>
            <p:cNvPr id="3" name="AutoShape 3"/>
            <p:cNvSpPr/>
            <p:nvPr/>
          </p:nvSpPr>
          <p:spPr>
            <a:xfrm>
              <a:off x="695325" y="1040108"/>
              <a:ext cx="10801350" cy="5184183"/>
            </a:xfrm>
            <a:custGeom>
              <a:avLst/>
              <a:gdLst/>
              <a:ahLst/>
              <a:cxnLst/>
              <a:rect l="l" t="t" r="r" b="b"/>
              <a:pathLst>
                <a:path w="10801350" h="5184183">
                  <a:moveTo>
                    <a:pt x="443220" y="0"/>
                  </a:moveTo>
                  <a:lnTo>
                    <a:pt x="1138467" y="0"/>
                  </a:lnTo>
                  <a:lnTo>
                    <a:pt x="1303588" y="147234"/>
                  </a:lnTo>
                  <a:lnTo>
                    <a:pt x="3754333" y="147234"/>
                  </a:lnTo>
                  <a:lnTo>
                    <a:pt x="3910763" y="7750"/>
                  </a:lnTo>
                  <a:lnTo>
                    <a:pt x="5997575" y="7750"/>
                  </a:lnTo>
                  <a:lnTo>
                    <a:pt x="6200775" y="7750"/>
                  </a:lnTo>
                  <a:lnTo>
                    <a:pt x="10245152" y="7750"/>
                  </a:lnTo>
                  <a:lnTo>
                    <a:pt x="10792658" y="495946"/>
                  </a:lnTo>
                  <a:lnTo>
                    <a:pt x="10792658" y="3556861"/>
                  </a:lnTo>
                  <a:lnTo>
                    <a:pt x="10679682" y="3657599"/>
                  </a:lnTo>
                  <a:lnTo>
                    <a:pt x="10679682" y="4587499"/>
                  </a:lnTo>
                  <a:lnTo>
                    <a:pt x="10801350" y="4695987"/>
                  </a:lnTo>
                  <a:lnTo>
                    <a:pt x="10801350" y="4990454"/>
                  </a:lnTo>
                  <a:lnTo>
                    <a:pt x="10592776" y="5176434"/>
                  </a:lnTo>
                  <a:lnTo>
                    <a:pt x="9723717" y="5176434"/>
                  </a:lnTo>
                  <a:lnTo>
                    <a:pt x="9549906" y="5021451"/>
                  </a:lnTo>
                  <a:lnTo>
                    <a:pt x="7159995" y="5021451"/>
                  </a:lnTo>
                  <a:lnTo>
                    <a:pt x="6977493" y="5184183"/>
                  </a:lnTo>
                  <a:lnTo>
                    <a:pt x="6200775" y="5184183"/>
                  </a:lnTo>
                  <a:lnTo>
                    <a:pt x="5997575" y="5184183"/>
                  </a:lnTo>
                  <a:lnTo>
                    <a:pt x="608342" y="5184183"/>
                  </a:lnTo>
                  <a:lnTo>
                    <a:pt x="26073" y="4664990"/>
                  </a:lnTo>
                  <a:lnTo>
                    <a:pt x="26073" y="3386380"/>
                  </a:lnTo>
                  <a:lnTo>
                    <a:pt x="139049" y="3285642"/>
                  </a:lnTo>
                  <a:lnTo>
                    <a:pt x="139049" y="2076773"/>
                  </a:lnTo>
                  <a:lnTo>
                    <a:pt x="0" y="1952787"/>
                  </a:lnTo>
                  <a:lnTo>
                    <a:pt x="0" y="395207"/>
                  </a:lnTo>
                  <a:close/>
                </a:path>
              </a:pathLst>
            </a:custGeom>
            <a:solidFill>
              <a:srgbClr val="778495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795404" y="1716476"/>
              <a:ext cx="6601193" cy="1214199"/>
            </a:xfrm>
            <a:prstGeom prst="trapezoid">
              <a:avLst>
                <a:gd name="adj" fmla="val 39524"/>
              </a:avLst>
            </a:prstGeom>
            <a:gradFill>
              <a:gsLst>
                <a:gs pos="0">
                  <a:srgbClr val="005CB0">
                    <a:alpha val="100000"/>
                    <a:lumMod val="60000"/>
                    <a:lumOff val="40000"/>
                  </a:srgbClr>
                </a:gs>
                <a:gs pos="50000">
                  <a:srgbClr val="005CB0">
                    <a:alpha val="100000"/>
                  </a:srgbClr>
                </a:gs>
              </a:gsLst>
              <a:lin ang="2700000"/>
            </a:gradFill>
            <a:ln>
              <a:headEnd type="none"/>
              <a:tailEnd type="none"/>
            </a:ln>
          </p:spPr>
          <p:txBody>
            <a:bodyPr vert="horz" wrap="square" lIns="108000" tIns="108000" rIns="108000" bIns="108000" rtlCol="0" anchor="ctr" anchorCtr="0"/>
            <a:lstStyle/>
            <a:p>
              <a:pPr algn="ctr">
                <a:lnSpc>
                  <a:spcPct val="120000"/>
                </a:lnSpc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项目基本情况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9076740" y="1716476"/>
              <a:ext cx="989798" cy="1214199"/>
            </a:xfrm>
            <a:prstGeom prst="parallelogram">
              <a:avLst>
                <a:gd name="adj" fmla="val 49726"/>
              </a:avLst>
            </a:prstGeom>
            <a:solidFill>
              <a:srgbClr val="778495">
                <a:alpha val="14901"/>
              </a:srgbClr>
            </a:solidFill>
            <a:ln w="12700">
              <a:solidFill>
                <a:srgbClr val="00A4DE">
                  <a:alpha val="50196"/>
                  <a:lumMod val="20000"/>
                  <a:lumOff val="8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V="1">
              <a:off x="9759479" y="1716476"/>
              <a:ext cx="989798" cy="1214199"/>
            </a:xfrm>
            <a:prstGeom prst="parallelogram">
              <a:avLst>
                <a:gd name="adj" fmla="val 49726"/>
              </a:avLst>
            </a:prstGeom>
            <a:solidFill>
              <a:srgbClr val="778495">
                <a:alpha val="14901"/>
              </a:srgbClr>
            </a:solidFill>
            <a:ln w="12700">
              <a:solidFill>
                <a:srgbClr val="00A4DE">
                  <a:alpha val="30196"/>
                  <a:lumMod val="20000"/>
                  <a:lumOff val="8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2125461" y="1716476"/>
              <a:ext cx="989798" cy="1214199"/>
            </a:xfrm>
            <a:prstGeom prst="parallelogram">
              <a:avLst>
                <a:gd name="adj" fmla="val 49726"/>
              </a:avLst>
            </a:prstGeom>
            <a:solidFill>
              <a:srgbClr val="778495">
                <a:alpha val="14901"/>
              </a:srgbClr>
            </a:solidFill>
            <a:ln w="12700">
              <a:solidFill>
                <a:srgbClr val="00A4DE">
                  <a:alpha val="50196"/>
                  <a:lumMod val="20000"/>
                  <a:lumOff val="8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1442723" y="1716476"/>
              <a:ext cx="989798" cy="1214199"/>
            </a:xfrm>
            <a:prstGeom prst="parallelogram">
              <a:avLst>
                <a:gd name="adj" fmla="val 49726"/>
              </a:avLst>
            </a:prstGeom>
            <a:solidFill>
              <a:srgbClr val="778495">
                <a:alpha val="14901"/>
              </a:srgbClr>
            </a:solidFill>
            <a:ln w="12700">
              <a:solidFill>
                <a:srgbClr val="00A4DE">
                  <a:alpha val="30196"/>
                  <a:lumMod val="20000"/>
                  <a:lumOff val="8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9" name="Group 9"/>
            <p:cNvGrpSpPr/>
            <p:nvPr/>
          </p:nvGrpSpPr>
          <p:grpSpPr>
            <a:xfrm rot="0">
              <a:off x="2040295" y="3379491"/>
              <a:ext cx="2172594" cy="2261616"/>
              <a:chOff x="2040295" y="3379491"/>
              <a:chExt cx="2172594" cy="2261616"/>
            </a:xfrm>
          </p:grpSpPr>
          <p:sp>
            <p:nvSpPr>
              <p:cNvPr id="10" name="TextBox 10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2040295" y="3379491"/>
                <a:ext cx="2172594" cy="560381"/>
              </a:xfrm>
              <a:prstGeom prst="snip1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0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2040295" y="4576004"/>
                <a:ext cx="2172594" cy="106510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全国大学生机器人竞赛（RoboMaster）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2040295" y="4103371"/>
                <a:ext cx="2172594" cy="47263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项目名称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5009704" y="3379491"/>
              <a:ext cx="2172594" cy="2261616"/>
              <a:chOff x="5009704" y="3379491"/>
              <a:chExt cx="2172594" cy="2261616"/>
            </a:xfrm>
          </p:grpSpPr>
          <p:sp>
            <p:nvSpPr>
              <p:cNvPr id="14" name="TextBox 14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009704" y="3379491"/>
                <a:ext cx="2172594" cy="560381"/>
              </a:xfrm>
              <a:prstGeom prst="snip1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0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009704" y="4576004"/>
                <a:ext cx="2172594" cy="106510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英雄机器人嵌软</a:t>
                </a: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技术核心</a:t>
                </a:r>
                <a:r>
                  <a:rPr lang="zh-CN" alt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、兵种</a:t>
                </a: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组长</a:t>
                </a:r>
                <a:endParaRPr lang="en-US" sz="1200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l">
                  <a:lnSpc>
                    <a:spcPct val="120000"/>
                  </a:lnSpc>
                  <a:defRPr/>
                </a:pPr>
                <a:endParaRPr lang="zh-CN" altLang="en-US" sz="1200" b="0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6" name="TextBox 16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009704" y="4103371"/>
                <a:ext cx="2172594" cy="47263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角色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7979112" y="3379491"/>
              <a:ext cx="2419350" cy="2658110"/>
              <a:chOff x="7979112" y="3379491"/>
              <a:chExt cx="2419350" cy="2658110"/>
            </a:xfrm>
          </p:grpSpPr>
          <p:sp>
            <p:nvSpPr>
              <p:cNvPr id="18" name="TextBox 18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7979112" y="3379491"/>
                <a:ext cx="2172594" cy="560381"/>
              </a:xfrm>
              <a:prstGeom prst="snip1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0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7979112" y="4575831"/>
                <a:ext cx="2419350" cy="146177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buClrTx/>
                  <a:buSzTx/>
                  <a:buNone/>
                  <a:defRPr/>
                </a:pPr>
                <a:r>
                  <a:rPr lang="en-US" sz="120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基于 STM32F4 独立设计并实现软件分层框架，</a:t>
                </a:r>
                <a:r>
                  <a:rPr lang="zh-CN" altLang="en-US" sz="120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用于</a:t>
                </a:r>
                <a:r>
                  <a:rPr lang="en-US" sz="120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控制舵轮底盘+二维云台+四摩擦轮发射机构的赛事机器人</a:t>
                </a:r>
                <a:r>
                  <a:rPr lang="zh-CN" altLang="en-US" sz="120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，最终实现高机动性、</a:t>
                </a:r>
                <a:r>
                  <a:rPr lang="zh-CN" altLang="en-US" sz="120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较高精度远程吊射</a:t>
                </a:r>
                <a:endParaRPr lang="zh-CN" altLang="en-US" sz="120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0" name="TextBox 20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7979112" y="4103371"/>
                <a:ext cx="2172594" cy="47263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目标</a:t>
                </a:r>
                <a:endParaRPr lang="en-US" sz="1100"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项目概览</a:t>
            </a:r>
            <a:endParaRPr lang="en-US" sz="1100"/>
          </a:p>
        </p:txBody>
      </p:sp>
      <p:pic>
        <p:nvPicPr>
          <p:cNvPr id="22" name="图片 21" descr="OIP-C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06200" y="0"/>
            <a:ext cx="659765" cy="6527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32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</a:t>
            </a:r>
            <a:r>
              <a:rPr lang="en-US" sz="32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架构图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660400" y="1130300"/>
            <a:ext cx="10858500" cy="593725"/>
          </a:xfrm>
          <a:prstGeom prst="rect">
            <a:avLst/>
          </a:prstGeom>
          <a:solidFill>
            <a:srgbClr val="005CB0">
              <a:alpha val="100000"/>
            </a:srgbClr>
          </a:solidFill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defRPr/>
            </a:pPr>
            <a:r>
              <a:rPr lang="en-US" sz="24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系统架构展示</a:t>
            </a:r>
            <a:endParaRPr lang="en-US" sz="11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400" y="1840230"/>
            <a:ext cx="6141720" cy="42195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315200" y="2057400"/>
            <a:ext cx="4064000" cy="1876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  <a:buNone/>
            </a:pPr>
            <a:r>
              <a:rPr lang="en-US" b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数据流：</a:t>
            </a:r>
            <a:br>
              <a:rPr lang="zh-CN" altLang="en-US">
                <a:sym typeface="+mn-ea"/>
              </a:rPr>
            </a:b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can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通讯数据流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：挂载在同一条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can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总线上的节点，均可发送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接收数据帧，具备总线广播的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特点。</a:t>
            </a:r>
            <a:b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uart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通讯数据流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  <a:buNone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接收端与发送端双向通信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单向通信。</a:t>
            </a:r>
            <a:b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spi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通讯数据流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br>
              <a:rPr lang="zh-CN" altLang="en-US"/>
            </a:b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mcu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作为主机片选上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BMI088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后，依据时钟线进行数据发送与接收的同步。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391400" y="441960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控制流</a:t>
            </a:r>
            <a:r>
              <a:rPr lang="zh-CN" altLang="en-US" b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br>
              <a:rPr lang="zh-CN" altLang="en-US" b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4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 </a:t>
            </a:r>
            <a:r>
              <a:rPr lang="en-US" altLang="zh-CN" sz="14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FreeRTOS </a:t>
            </a:r>
            <a:r>
              <a:rPr lang="zh-CN" altLang="en-US" sz="14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任务调度与中断服务程序协同驱动。</a:t>
            </a:r>
            <a:endParaRPr lang="zh-CN" altLang="en-US" sz="140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 descr="OIP-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6200" y="0"/>
            <a:ext cx="659765" cy="6527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软件分层架构图</a:t>
            </a:r>
            <a:endParaRPr lang="en-US" sz="1100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6150" y="1066800"/>
            <a:ext cx="2121535" cy="178054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150" y="3581400"/>
            <a:ext cx="2225040" cy="244221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1066800"/>
            <a:ext cx="3467100" cy="109855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600" y="2254250"/>
            <a:ext cx="3352800" cy="425450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4648200" y="6096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驱动层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391400" y="6096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交互层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295400"/>
            <a:ext cx="3956050" cy="4389120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4953000" y="31337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设备层</a:t>
            </a:r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7242175" y="3048000"/>
            <a:ext cx="406400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已知一个机器人由底盘、云台、发射机构组成，那么分层框架从顶层到底层实现过程如下。</a:t>
            </a:r>
            <a:br>
              <a:rPr lang="zh-CN" altLang="en-US" sz="160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、用户在交互层中定义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class_chariot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类。</a:t>
            </a:r>
            <a:b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、类中包含机器人关键模块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class_gimbal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class_chassis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class_booster</a:t>
            </a:r>
            <a:b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、其中在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class_gimbal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中包含设备层类</a:t>
            </a:r>
            <a:b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dvc_djimotor.h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class_djimotor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、以及其他设备类，其他关键模块同理</a:t>
            </a:r>
            <a:b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、而设备层类又绑定驱动层的通信结构体、并调用其中的</a:t>
            </a:r>
            <a:r>
              <a:rPr lang="en-US" altLang="zh-CN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函数，实现底层硬件</a:t>
            </a:r>
            <a:r>
              <a:rPr lang="zh-CN" altLang="en-US" sz="1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</a:t>
            </a:r>
            <a:endParaRPr lang="zh-CN" altLang="en-US" sz="1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 descr="OIP-C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06200" y="0"/>
            <a:ext cx="659765" cy="6527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" name="TextBox 2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关键技术点分解</a:t>
            </a:r>
            <a:endParaRPr lang="en-US" sz="1100"/>
          </a:p>
        </p:txBody>
      </p:sp>
      <p:sp>
        <p:nvSpPr>
          <p:cNvPr id="8" name="TextBox 8"/>
          <p:cNvSpPr txBox="1"/>
          <p:nvPr>
            <p:custDataLst>
              <p:tags r:id="rId1"/>
            </p:custDataLst>
          </p:nvPr>
        </p:nvSpPr>
        <p:spPr>
          <a:xfrm>
            <a:off x="533399" y="990388"/>
            <a:ext cx="5027179" cy="730249"/>
          </a:xfrm>
          <a:prstGeom prst="rect">
            <a:avLst/>
          </a:prstGeom>
          <a:ln>
            <a:prstDash val="solid"/>
            <a:headEnd type="none"/>
            <a:tailEnd type="none"/>
          </a:ln>
        </p:spPr>
        <p:txBody>
          <a:bodyPr vert="horz" wrap="none" lIns="91440" tIns="45720" rIns="91440" bIns="45720" rtlCol="0" anchor="b" anchorCtr="0"/>
          <a:lstStyle/>
          <a:p>
            <a:pPr algn="l">
              <a:defRPr/>
            </a:pPr>
            <a:r>
              <a:rPr lang="en-US" sz="3200" b="1" i="0">
                <a:solidFill>
                  <a:srgbClr val="005C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01.</a:t>
            </a:r>
            <a:r>
              <a:rPr lang="en-US" sz="2000" b="1" i="0">
                <a:solidFill>
                  <a:srgbClr val="005C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FreeRTOS</a:t>
            </a:r>
            <a:r>
              <a:rPr lang="zh-CN" altLang="en-US" sz="2000" b="1" i="0">
                <a:solidFill>
                  <a:srgbClr val="005C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任务调度</a:t>
            </a:r>
            <a:endParaRPr lang="zh-CN" altLang="en-US" sz="2000" b="1" i="0">
              <a:solidFill>
                <a:srgbClr val="005CB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3400" y="2057400"/>
            <a:ext cx="11064875" cy="10267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120000"/>
              </a:lnSpc>
              <a:defRPr/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、按照功能模块划分为四个任务</a:t>
            </a:r>
            <a:b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、按照实时性要求分配任务优先级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defRPr/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、从小开始逐步增加，使用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uxTaskGetStackHighWaterMark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监控任务栈剩余空间，以此考虑任务调用深度和局部变量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8000" y="17208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设计原则</a:t>
            </a:r>
            <a:endParaRPr lang="zh-CN" alt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971800"/>
            <a:ext cx="7130415" cy="3441700"/>
          </a:xfrm>
          <a:prstGeom prst="rect">
            <a:avLst/>
          </a:prstGeom>
        </p:spPr>
      </p:pic>
      <p:pic>
        <p:nvPicPr>
          <p:cNvPr id="2" name="图片 1" descr="OIP-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6200" y="0"/>
            <a:ext cx="659765" cy="6527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" name="TextBox 2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关键技术点分解</a:t>
            </a:r>
            <a:endParaRPr lang="en-US" sz="1100"/>
          </a:p>
        </p:txBody>
      </p:sp>
      <p:sp>
        <p:nvSpPr>
          <p:cNvPr id="8" name="TextBox 8"/>
          <p:cNvSpPr txBox="1"/>
          <p:nvPr>
            <p:custDataLst>
              <p:tags r:id="rId1"/>
            </p:custDataLst>
          </p:nvPr>
        </p:nvSpPr>
        <p:spPr>
          <a:xfrm>
            <a:off x="533399" y="990388"/>
            <a:ext cx="5027179" cy="730249"/>
          </a:xfrm>
          <a:prstGeom prst="rect">
            <a:avLst/>
          </a:prstGeom>
          <a:ln>
            <a:prstDash val="solid"/>
            <a:headEnd type="none"/>
            <a:tailEnd type="none"/>
          </a:ln>
        </p:spPr>
        <p:txBody>
          <a:bodyPr vert="horz" wrap="none" lIns="91440" tIns="45720" rIns="91440" bIns="45720" rtlCol="0" anchor="b" anchorCtr="0"/>
          <a:lstStyle/>
          <a:p>
            <a:pPr algn="l">
              <a:defRPr/>
            </a:pPr>
            <a:r>
              <a:rPr lang="en-US" sz="3200" b="1" i="0">
                <a:solidFill>
                  <a:srgbClr val="005C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02.</a:t>
            </a:r>
            <a:r>
              <a:rPr lang="en-US" sz="2000" b="1" i="0">
                <a:solidFill>
                  <a:srgbClr val="005C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Can</a:t>
            </a:r>
            <a:r>
              <a:rPr lang="zh-CN" altLang="en-US" sz="2000" b="1" i="0">
                <a:solidFill>
                  <a:srgbClr val="005C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通讯驱动伺服</a:t>
            </a:r>
            <a:r>
              <a:rPr lang="zh-CN" altLang="en-US" sz="2000" b="1" i="0">
                <a:solidFill>
                  <a:srgbClr val="005C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电机</a:t>
            </a:r>
            <a:endParaRPr lang="zh-CN" altLang="en-US" sz="2000" b="1" i="0">
              <a:solidFill>
                <a:srgbClr val="005CB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1000" y="1727200"/>
            <a:ext cx="5064125" cy="671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驱动层：</a:t>
            </a:r>
            <a:b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、定义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CAN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通讯处理结构体、作为与设备层交互的接口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62200"/>
            <a:ext cx="1885315" cy="12420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86200"/>
            <a:ext cx="6045200" cy="11334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102225"/>
            <a:ext cx="7877810" cy="123825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381000" y="360997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2、定义驱动层函数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423025"/>
            <a:ext cx="8121650" cy="2667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572000" y="3048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设备层：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6800" y="1143000"/>
            <a:ext cx="3924935" cy="180975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572000" y="609600"/>
            <a:ext cx="7522845" cy="614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在设备类中添加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CAN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通信处理结构体指针变量，用于绑定驱动层已经声明的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CAN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_Manage_Object结构体，并定义相关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API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函数。</a:t>
            </a:r>
            <a:b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1447800"/>
            <a:ext cx="4272280" cy="118364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9800" y="2834005"/>
            <a:ext cx="3527425" cy="123571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74455" y="3107055"/>
            <a:ext cx="3070225" cy="80962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6502400" y="41148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交互层：</a:t>
            </a:r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0" y="5061585"/>
            <a:ext cx="6327775" cy="21590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6502400" y="4392930"/>
            <a:ext cx="5690235" cy="612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以云台的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yaw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轴电机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6020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为例：展示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CAN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外设、电机初始化，接收与发送交互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4860925"/>
            <a:ext cx="4775200" cy="24130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62800" y="5257800"/>
            <a:ext cx="4413885" cy="61912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35010" y="5772785"/>
            <a:ext cx="3803650" cy="64262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4530" y="6477000"/>
            <a:ext cx="3887470" cy="255270"/>
          </a:xfrm>
          <a:prstGeom prst="rect">
            <a:avLst/>
          </a:prstGeom>
        </p:spPr>
      </p:pic>
      <p:pic>
        <p:nvPicPr>
          <p:cNvPr id="4" name="图片 3" descr="OIP-C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506200" y="0"/>
            <a:ext cx="659765" cy="6527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8"/>
          <p:cNvSpPr txBox="1"/>
          <p:nvPr>
            <p:custDataLst>
              <p:tags r:id="rId1"/>
            </p:custDataLst>
          </p:nvPr>
        </p:nvSpPr>
        <p:spPr>
          <a:xfrm>
            <a:off x="533399" y="990388"/>
            <a:ext cx="5027179" cy="730249"/>
          </a:xfrm>
          <a:prstGeom prst="rect">
            <a:avLst/>
          </a:prstGeom>
          <a:ln>
            <a:prstDash val="solid"/>
            <a:headEnd type="none"/>
            <a:tailEnd type="none"/>
          </a:ln>
        </p:spPr>
        <p:txBody>
          <a:bodyPr vert="horz" wrap="none" lIns="91440" tIns="45720" rIns="91440" bIns="45720" rtlCol="0" anchor="b" anchorCtr="0"/>
          <a:lstStyle/>
          <a:p>
            <a:pPr algn="l">
              <a:defRPr/>
            </a:pPr>
            <a:r>
              <a:rPr lang="en-US" sz="3200" b="1" i="0">
                <a:solidFill>
                  <a:srgbClr val="005C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03.</a:t>
            </a:r>
            <a:r>
              <a:rPr lang="en-US" sz="2000" b="1" i="0">
                <a:solidFill>
                  <a:srgbClr val="005C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Spi</a:t>
            </a:r>
            <a:r>
              <a:rPr lang="zh-CN" altLang="en-US" sz="2000" b="1" i="0">
                <a:solidFill>
                  <a:srgbClr val="005C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通讯获取</a:t>
            </a:r>
            <a:r>
              <a:rPr lang="en-US" altLang="zh-CN" sz="2000" b="1" i="0">
                <a:solidFill>
                  <a:srgbClr val="005C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IMU</a:t>
            </a:r>
            <a:r>
              <a:rPr lang="zh-CN" altLang="en-US" sz="2000" b="1" i="0">
                <a:solidFill>
                  <a:srgbClr val="005C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数据</a:t>
            </a:r>
            <a:endParaRPr lang="zh-CN" altLang="en-US" sz="2000" b="1" i="0">
              <a:solidFill>
                <a:srgbClr val="005CB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关键技术点分解</a:t>
            </a:r>
            <a:endParaRPr lang="en-US" sz="1100"/>
          </a:p>
        </p:txBody>
      </p:sp>
      <p:sp>
        <p:nvSpPr>
          <p:cNvPr id="4" name="文本框 3"/>
          <p:cNvSpPr txBox="1"/>
          <p:nvPr/>
        </p:nvSpPr>
        <p:spPr>
          <a:xfrm>
            <a:off x="457200" y="1720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驱动层：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" y="2057400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、定义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SPI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通讯处理结构体、作为与设备层交互的接口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391025"/>
            <a:ext cx="4354195" cy="10661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64105"/>
            <a:ext cx="2548255" cy="162877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57200" y="403860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2、定义驱动层函数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502910"/>
            <a:ext cx="5015865" cy="12954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0" y="679450"/>
            <a:ext cx="6731000" cy="2413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343400" y="2857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设备层：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4400" y="1219200"/>
            <a:ext cx="6781800" cy="103759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2590800"/>
            <a:ext cx="4566285" cy="215900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953000" y="2286000"/>
            <a:ext cx="6749415" cy="553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spi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写入角速度计寄存器的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函数，加速度计同理（只是片选改变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了）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724400" y="94615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定义发送接收函数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334000" y="48006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交互层：</a:t>
            </a:r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7800" y="5168900"/>
            <a:ext cx="4756150" cy="5334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8800" y="5638800"/>
            <a:ext cx="4597400" cy="47625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49265" y="6121400"/>
            <a:ext cx="6591300" cy="647700"/>
          </a:xfrm>
          <a:prstGeom prst="rect">
            <a:avLst/>
          </a:prstGeom>
        </p:spPr>
      </p:pic>
      <p:pic>
        <p:nvPicPr>
          <p:cNvPr id="8" name="图片 7" descr="OIP-C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06200" y="0"/>
            <a:ext cx="659765" cy="6527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" name="TextBox 2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关键技术点分解</a:t>
            </a:r>
            <a:endParaRPr lang="en-US" sz="1100"/>
          </a:p>
        </p:txBody>
      </p:sp>
      <p:sp>
        <p:nvSpPr>
          <p:cNvPr id="2" name="TextBox 8"/>
          <p:cNvSpPr txBox="1"/>
          <p:nvPr>
            <p:custDataLst>
              <p:tags r:id="rId1"/>
            </p:custDataLst>
          </p:nvPr>
        </p:nvSpPr>
        <p:spPr>
          <a:xfrm>
            <a:off x="533399" y="990388"/>
            <a:ext cx="5027179" cy="730249"/>
          </a:xfrm>
          <a:prstGeom prst="rect">
            <a:avLst/>
          </a:prstGeom>
          <a:ln>
            <a:prstDash val="solid"/>
            <a:headEnd type="none"/>
            <a:tailEnd type="none"/>
          </a:ln>
        </p:spPr>
        <p:txBody>
          <a:bodyPr vert="horz" wrap="none" lIns="91440" tIns="45720" rIns="91440" bIns="45720" rtlCol="0" anchor="b" anchorCtr="0"/>
          <a:lstStyle/>
          <a:p>
            <a:pPr algn="l">
              <a:defRPr/>
            </a:pPr>
            <a:r>
              <a:rPr lang="en-US" sz="3200" b="1" i="0">
                <a:solidFill>
                  <a:srgbClr val="005C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04.</a:t>
            </a:r>
            <a:r>
              <a:rPr lang="zh-CN" altLang="en-US" sz="2000" b="1" i="0">
                <a:solidFill>
                  <a:srgbClr val="005C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有限</a:t>
            </a:r>
            <a:r>
              <a:rPr lang="zh-CN" altLang="en-US" sz="2000" b="1" i="0">
                <a:solidFill>
                  <a:srgbClr val="005C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自动状态机</a:t>
            </a:r>
            <a:endParaRPr lang="zh-CN" altLang="en-US" sz="2000" b="1" i="0">
              <a:solidFill>
                <a:srgbClr val="005CB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2625" y="18288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算法库</a:t>
            </a:r>
            <a:r>
              <a:rPr lang="en-US" altLang="zh-CN" b="1"/>
              <a:t>alg_fsm.cpp</a:t>
            </a:r>
            <a:r>
              <a:rPr lang="zh-CN" altLang="en-US" b="1"/>
              <a:t>库</a:t>
            </a:r>
            <a:endParaRPr lang="zh-CN" altLang="en-US" b="1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2514600"/>
            <a:ext cx="2788285" cy="10039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08000" y="228600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、定义状态结构体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733800"/>
            <a:ext cx="3710305" cy="15621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08000" y="350520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、定义状态机类成员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5334000"/>
            <a:ext cx="4072255" cy="73406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6096635"/>
            <a:ext cx="2731135" cy="70866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8200" y="540385"/>
            <a:ext cx="3121660" cy="97091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4114800" y="228600"/>
            <a:ext cx="4466590" cy="525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应用场景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遥控器离线控制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状态机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001000" y="45720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、状态机初始化：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4800" y="706120"/>
            <a:ext cx="3381375" cy="64008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7924800" y="134620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、调用状态机转移函数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5600" y="1651635"/>
            <a:ext cx="5260975" cy="19875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0" y="2133600"/>
            <a:ext cx="7038975" cy="4599305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4648200" y="175895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状态流程图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OIP-C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06200" y="0"/>
            <a:ext cx="659765" cy="6527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89650" y="1628620"/>
            <a:ext cx="9000000" cy="2160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54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技术能力总结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1589650" y="3904456"/>
            <a:ext cx="9000000" cy="110499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总结技术能力</a:t>
            </a:r>
            <a:endParaRPr lang="en-US" sz="1100"/>
          </a:p>
        </p:txBody>
      </p:sp>
      <p:pic>
        <p:nvPicPr>
          <p:cNvPr id="7" name="图片 6" descr="WPS图片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902460" cy="690880"/>
          </a:xfrm>
          <a:prstGeom prst="rect">
            <a:avLst/>
          </a:prstGeom>
        </p:spPr>
      </p:pic>
      <p:pic>
        <p:nvPicPr>
          <p:cNvPr id="8" name="图片 7" descr="OIP-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6200" y="0"/>
            <a:ext cx="659765" cy="6527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ee14a81-d566-4c93-9f74-4a49dbe105a4"/>
          <p:cNvGrpSpPr/>
          <p:nvPr>
            <p:custDataLst>
              <p:tags r:id="rId1"/>
            </p:custDataLst>
          </p:nvPr>
        </p:nvGrpSpPr>
        <p:grpSpPr>
          <a:xfrm rot="0">
            <a:off x="660400" y="1130300"/>
            <a:ext cx="10858500" cy="5003799"/>
            <a:chOff x="660400" y="1130300"/>
            <a:chExt cx="10858500" cy="5003799"/>
          </a:xfrm>
        </p:grpSpPr>
        <p:sp>
          <p:nvSpPr>
            <p:cNvPr id="3" name="TextBox 3"/>
            <p:cNvSpPr txBox="1"/>
            <p:nvPr/>
          </p:nvSpPr>
          <p:spPr>
            <a:xfrm>
              <a:off x="679450" y="1130300"/>
              <a:ext cx="10833100" cy="1060265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技术能力展示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rot="0">
              <a:off x="660400" y="2280726"/>
              <a:ext cx="2041331" cy="3833372"/>
              <a:chOff x="660400" y="2280726"/>
              <a:chExt cx="2041331" cy="3833372"/>
            </a:xfrm>
          </p:grpSpPr>
          <p:sp>
            <p:nvSpPr>
              <p:cNvPr id="5" name="AutoShape 5"/>
              <p:cNvSpPr/>
              <p:nvPr>
                <p:custDataLst>
                  <p:tags r:id="rId2"/>
                </p:custDataLst>
              </p:nvPr>
            </p:nvSpPr>
            <p:spPr>
              <a:xfrm>
                <a:off x="660400" y="3424427"/>
                <a:ext cx="2041331" cy="49450"/>
              </a:xfrm>
              <a:prstGeom prst="roundRect">
                <a:avLst/>
              </a:prstGeom>
              <a:gradFill>
                <a:gsLst>
                  <a:gs pos="0">
                    <a:srgbClr val="005CB0">
                      <a:alpha val="100000"/>
                    </a:srgbClr>
                  </a:gs>
                  <a:gs pos="100000">
                    <a:srgbClr val="00A4DE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660400" y="2280726"/>
                <a:ext cx="2041330" cy="10333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800" b="1" i="0">
                    <a:gradFill>
                      <a:gsLst>
                        <a:gs pos="0">
                          <a:srgbClr val="005CB0">
                            <a:alpha val="100000"/>
                          </a:srgbClr>
                        </a:gs>
                        <a:gs pos="100000">
                          <a:srgbClr val="00A4DE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73100" y="3595453"/>
                <a:ext cx="2028631" cy="79700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语言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73100" y="4404828"/>
                <a:ext cx="2028631" cy="170927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熟练掌握C/C++语言，具备扎实的编程基础。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2864693" y="2280726"/>
              <a:ext cx="2041331" cy="3830246"/>
              <a:chOff x="2864693" y="2280726"/>
              <a:chExt cx="2041331" cy="3830246"/>
            </a:xfrm>
          </p:grpSpPr>
          <p:sp>
            <p:nvSpPr>
              <p:cNvPr id="10" name="AutoShape 10"/>
              <p:cNvSpPr/>
              <p:nvPr>
                <p:custDataLst>
                  <p:tags r:id="rId6"/>
                </p:custDataLst>
              </p:nvPr>
            </p:nvSpPr>
            <p:spPr>
              <a:xfrm>
                <a:off x="2864693" y="3427752"/>
                <a:ext cx="2041331" cy="49450"/>
              </a:xfrm>
              <a:prstGeom prst="roundRect">
                <a:avLst/>
              </a:prstGeom>
              <a:gradFill>
                <a:gsLst>
                  <a:gs pos="0">
                    <a:srgbClr val="005CB0">
                      <a:alpha val="100000"/>
                    </a:srgbClr>
                  </a:gs>
                  <a:gs pos="100000">
                    <a:srgbClr val="00A4DE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864693" y="3598471"/>
                <a:ext cx="2041331" cy="79398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RTOS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2864693" y="2280726"/>
                <a:ext cx="2041330" cy="10333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800" b="1" i="0">
                    <a:gradFill>
                      <a:gsLst>
                        <a:gs pos="0">
                          <a:srgbClr val="005CB0">
                            <a:alpha val="100000"/>
                          </a:srgbClr>
                        </a:gs>
                        <a:gs pos="100000">
                          <a:srgbClr val="00A4DE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2864693" y="4408172"/>
                <a:ext cx="2041331" cy="17028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熟悉FreeRTOS，能够进行实时系统的开发和优化。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5068985" y="2280726"/>
              <a:ext cx="2041331" cy="3838034"/>
              <a:chOff x="5068985" y="2280726"/>
              <a:chExt cx="2041331" cy="3838034"/>
            </a:xfrm>
          </p:grpSpPr>
          <p:sp>
            <p:nvSpPr>
              <p:cNvPr id="15" name="AutoShape 15"/>
              <p:cNvSpPr/>
              <p:nvPr>
                <p:custDataLst>
                  <p:tags r:id="rId10"/>
                </p:custDataLst>
              </p:nvPr>
            </p:nvSpPr>
            <p:spPr>
              <a:xfrm>
                <a:off x="5068985" y="3419928"/>
                <a:ext cx="2041331" cy="49450"/>
              </a:xfrm>
              <a:prstGeom prst="roundRect">
                <a:avLst/>
              </a:prstGeom>
              <a:gradFill>
                <a:gsLst>
                  <a:gs pos="0">
                    <a:srgbClr val="005CB0">
                      <a:alpha val="100000"/>
                    </a:srgbClr>
                  </a:gs>
                  <a:gs pos="100000">
                    <a:srgbClr val="00A4DE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5068985" y="3583853"/>
                <a:ext cx="2041331" cy="79399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外设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5068985" y="2280726"/>
                <a:ext cx="2041330" cy="10333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800" b="1" i="0">
                    <a:gradFill>
                      <a:gsLst>
                        <a:gs pos="0">
                          <a:srgbClr val="005CB0">
                            <a:alpha val="100000"/>
                          </a:srgbClr>
                        </a:gs>
                        <a:gs pos="100000">
                          <a:srgbClr val="00A4DE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5068985" y="4393490"/>
                <a:ext cx="2041331" cy="172527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熟练掌握</a:t>
                </a: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UART、CAN、SPI、IIC等外设的使用和编程。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7273278" y="2280726"/>
              <a:ext cx="2041331" cy="3837004"/>
              <a:chOff x="7273278" y="2280726"/>
              <a:chExt cx="2041331" cy="3837004"/>
            </a:xfrm>
          </p:grpSpPr>
          <p:sp>
            <p:nvSpPr>
              <p:cNvPr id="20" name="AutoShape 20"/>
              <p:cNvSpPr/>
              <p:nvPr>
                <p:custDataLst>
                  <p:tags r:id="rId14"/>
                </p:custDataLst>
              </p:nvPr>
            </p:nvSpPr>
            <p:spPr>
              <a:xfrm>
                <a:off x="7273278" y="3412103"/>
                <a:ext cx="2041331" cy="49450"/>
              </a:xfrm>
              <a:prstGeom prst="roundRect">
                <a:avLst/>
              </a:prstGeom>
              <a:gradFill>
                <a:gsLst>
                  <a:gs pos="0">
                    <a:srgbClr val="005CB0">
                      <a:alpha val="100000"/>
                    </a:srgbClr>
                  </a:gs>
                  <a:gs pos="100000">
                    <a:srgbClr val="00A4DE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1" name="TextBox 21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7273278" y="3582823"/>
                <a:ext cx="2041331" cy="79399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工具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7273278" y="2280726"/>
                <a:ext cx="2041330" cy="10333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800" b="1" i="0">
                    <a:gradFill>
                      <a:gsLst>
                        <a:gs pos="0">
                          <a:srgbClr val="005CB0">
                            <a:alpha val="100000"/>
                          </a:srgbClr>
                        </a:gs>
                        <a:gs pos="100000">
                          <a:srgbClr val="00A4DE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7273278" y="4392460"/>
                <a:ext cx="2041331" cy="172527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熟练使用Keil、CubeMX、Vscode</a:t>
                </a:r>
                <a:r>
                  <a:rPr lang="zh-CN" alt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、</a:t>
                </a: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Git、Jlink等开发工具。</a:t>
                </a:r>
                <a:endParaRPr lang="en-US" sz="1100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0">
              <a:off x="9477569" y="2280726"/>
              <a:ext cx="2041331" cy="3853373"/>
              <a:chOff x="9477569" y="2280726"/>
              <a:chExt cx="2041331" cy="3853373"/>
            </a:xfrm>
          </p:grpSpPr>
          <p:sp>
            <p:nvSpPr>
              <p:cNvPr id="25" name="AutoShape 25"/>
              <p:cNvSpPr/>
              <p:nvPr>
                <p:custDataLst>
                  <p:tags r:id="rId18"/>
                </p:custDataLst>
              </p:nvPr>
            </p:nvSpPr>
            <p:spPr>
              <a:xfrm>
                <a:off x="9477569" y="3404275"/>
                <a:ext cx="2041331" cy="49450"/>
              </a:xfrm>
              <a:prstGeom prst="roundRect">
                <a:avLst/>
              </a:prstGeom>
              <a:gradFill>
                <a:gsLst>
                  <a:gs pos="0">
                    <a:srgbClr val="005CB0">
                      <a:alpha val="100000"/>
                    </a:srgbClr>
                  </a:gs>
                  <a:gs pos="100000">
                    <a:srgbClr val="00A4DE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6" name="TextBox 26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9477569" y="3608060"/>
                <a:ext cx="2041331" cy="74633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其他技能</a:t>
                </a:r>
                <a:endParaRPr lang="en-US" sz="1100"/>
              </a:p>
            </p:txBody>
          </p:sp>
          <p:sp>
            <p:nvSpPr>
              <p:cNvPr id="27" name="TextBox 27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9477569" y="2280726"/>
                <a:ext cx="2041330" cy="10333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800" b="1" i="0">
                    <a:gradFill>
                      <a:gsLst>
                        <a:gs pos="0">
                          <a:srgbClr val="005CB0">
                            <a:alpha val="100000"/>
                          </a:srgbClr>
                        </a:gs>
                        <a:gs pos="100000">
                          <a:srgbClr val="00A4DE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05</a:t>
                </a:r>
                <a:endParaRPr lang="en-US" sz="1100"/>
              </a:p>
            </p:txBody>
          </p:sp>
          <p:sp>
            <p:nvSpPr>
              <p:cNvPr id="28" name="TextBox 28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9477569" y="4354398"/>
                <a:ext cx="2041331" cy="1779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zh-CN" alt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了解一些</a:t>
                </a: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数据结构</a:t>
                </a:r>
                <a:r>
                  <a:rPr lang="zh-CN" alt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、</a:t>
                </a: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Linux</a:t>
                </a:r>
                <a:r>
                  <a:rPr lang="zh-CN" alt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应用、计算机网络的基础知识</a:t>
                </a: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endParaRPr lang="en-US" sz="1100"/>
              </a:p>
            </p:txBody>
          </p:sp>
        </p:grpSp>
      </p:grpSp>
      <p:sp>
        <p:nvSpPr>
          <p:cNvPr id="29" name="TextBox 2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技术栈总结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29651" y="1130300"/>
            <a:ext cx="9720000" cy="2340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7200" b="1" i="0">
                <a:ln w="19050"/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谢谢观看</a:t>
            </a:r>
            <a:endParaRPr lang="en-US" sz="1100"/>
          </a:p>
        </p:txBody>
      </p:sp>
      <p:pic>
        <p:nvPicPr>
          <p:cNvPr id="7" name="图片 6" descr="WPS图片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902460" cy="690880"/>
          </a:xfrm>
          <a:prstGeom prst="rect">
            <a:avLst/>
          </a:prstGeom>
        </p:spPr>
      </p:pic>
      <p:pic>
        <p:nvPicPr>
          <p:cNvPr id="8" name="图片 7" descr="OIP-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6200" y="0"/>
            <a:ext cx="800475" cy="792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2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3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4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5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6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7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8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9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10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11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12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13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14.xml><?xml version="1.0" encoding="utf-8"?>
<p:tagLst xmlns:p="http://schemas.openxmlformats.org/presentationml/2006/main">
  <p:tag name="KSO_WM_DIAGRAM_VIRTUALLY_FRAME" val="{&quot;height&quot;:393.99992125984255,&quot;left&quot;:51.999921259842516,&quot;top&quot;:89.00007874015748,&quot;width&quot;:855.0000787401575}"/>
</p:tagLst>
</file>

<file path=ppt/tags/tag15.xml><?xml version="1.0" encoding="utf-8"?>
<p:tagLst xmlns:p="http://schemas.openxmlformats.org/presentationml/2006/main">
  <p:tag name="KSO_WM_DIAGRAM_VIRTUALLY_FRAME" val="{&quot;height&quot;:393.9996850393701,&quot;left&quot;:51.999921259842516,&quot;top&quot;:89.00031496062992,&quot;width&quot;:855.0000787401575}"/>
</p:tagLst>
</file>

<file path=ppt/tags/tag16.xml><?xml version="1.0" encoding="utf-8"?>
<p:tagLst xmlns:p="http://schemas.openxmlformats.org/presentationml/2006/main">
  <p:tag name="KSO_WM_DIAGRAM_VIRTUALLY_FRAME" val="{&quot;height&quot;:393.9996850393701,&quot;left&quot;:51.999921259842516,&quot;top&quot;:89.00031496062992,&quot;width&quot;:855.0000787401575}"/>
</p:tagLst>
</file>

<file path=ppt/tags/tag17.xml><?xml version="1.0" encoding="utf-8"?>
<p:tagLst xmlns:p="http://schemas.openxmlformats.org/presentationml/2006/main">
  <p:tag name="KSO_WM_DIAGRAM_VIRTUALLY_FRAME" val="{&quot;height&quot;:393.9996850393701,&quot;left&quot;:51.999921259842516,&quot;top&quot;:89.00031496062992,&quot;width&quot;:855.0000787401575}"/>
</p:tagLst>
</file>

<file path=ppt/tags/tag18.xml><?xml version="1.0" encoding="utf-8"?>
<p:tagLst xmlns:p="http://schemas.openxmlformats.org/presentationml/2006/main">
  <p:tag name="KSO_WM_DIAGRAM_VIRTUALLY_FRAME" val="{&quot;height&quot;:393.9996850393701,&quot;left&quot;:51.999921259842516,&quot;top&quot;:89.00031496062992,&quot;width&quot;:855.0000787401575}"/>
</p:tagLst>
</file>

<file path=ppt/tags/tag19.xml><?xml version="1.0" encoding="utf-8"?>
<p:tagLst xmlns:p="http://schemas.openxmlformats.org/presentationml/2006/main">
  <p:tag name="KSO_WM_DIAGRAM_VIRTUALLY_FRAME" val="{&quot;height&quot;:393.9996850393701,&quot;left&quot;:51.999921259842516,&quot;top&quot;:89.00031496062992,&quot;width&quot;:855.0000787401575}"/>
</p:tagLst>
</file>

<file path=ppt/tags/tag20.xml><?xml version="1.0" encoding="utf-8"?>
<p:tagLst xmlns:p="http://schemas.openxmlformats.org/presentationml/2006/main">
  <p:tag name="KSO_WM_DIAGRAM_VIRTUALLY_FRAME" val="{&quot;height&quot;:393.9996850393701,&quot;left&quot;:51.999921259842516,&quot;top&quot;:89.00031496062992,&quot;width&quot;:855.0000787401575}"/>
</p:tagLst>
</file>

<file path=ppt/tags/tag21.xml><?xml version="1.0" encoding="utf-8"?>
<p:tagLst xmlns:p="http://schemas.openxmlformats.org/presentationml/2006/main">
  <p:tag name="KSO_WM_DIAGRAM_VIRTUALLY_FRAME" val="{&quot;height&quot;:393.9996850393701,&quot;left&quot;:51.999921259842516,&quot;top&quot;:89.00031496062992,&quot;width&quot;:855.0000787401575}"/>
</p:tagLst>
</file>

<file path=ppt/tags/tag22.xml><?xml version="1.0" encoding="utf-8"?>
<p:tagLst xmlns:p="http://schemas.openxmlformats.org/presentationml/2006/main">
  <p:tag name="KSO_WM_DIAGRAM_VIRTUALLY_FRAME" val="{&quot;height&quot;:393.9996850393701,&quot;left&quot;:51.999921259842516,&quot;top&quot;:89.00031496062992,&quot;width&quot;:855.0000787401575}"/>
</p:tagLst>
</file>

<file path=ppt/tags/tag23.xml><?xml version="1.0" encoding="utf-8"?>
<p:tagLst xmlns:p="http://schemas.openxmlformats.org/presentationml/2006/main">
  <p:tag name="KSO_WM_DIAGRAM_VIRTUALLY_FRAME" val="{&quot;height&quot;:393.9996850393701,&quot;left&quot;:51.999921259842516,&quot;top&quot;:89.00031496062992,&quot;width&quot;:855.0000787401575}"/>
</p:tagLst>
</file>

<file path=ppt/tags/tag24.xml><?xml version="1.0" encoding="utf-8"?>
<p:tagLst xmlns:p="http://schemas.openxmlformats.org/presentationml/2006/main">
  <p:tag name="KSO_WM_DIAGRAM_VIRTUALLY_FRAME" val="{&quot;height&quot;:393.9996850393701,&quot;left&quot;:51.999921259842516,&quot;top&quot;:89.00031496062992,&quot;width&quot;:855.0000787401575}"/>
</p:tagLst>
</file>

<file path=ppt/tags/tag25.xml><?xml version="1.0" encoding="utf-8"?>
<p:tagLst xmlns:p="http://schemas.openxmlformats.org/presentationml/2006/main">
  <p:tag name="KSO_WM_DIAGRAM_VIRTUALLY_FRAME" val="{&quot;height&quot;:393.9996850393701,&quot;left&quot;:51.999921259842516,&quot;top&quot;:89.00031496062992,&quot;width&quot;:855.0000787401575}"/>
</p:tagLst>
</file>

<file path=ppt/tags/tag26.xml><?xml version="1.0" encoding="utf-8"?>
<p:tagLst xmlns:p="http://schemas.openxmlformats.org/presentationml/2006/main">
  <p:tag name="KSO_WM_DIAGRAM_VIRTUALLY_FRAME" val="{&quot;height&quot;:393.9996850393701,&quot;left&quot;:51.999921259842516,&quot;top&quot;:89.00031496062992,&quot;width&quot;:855.0000787401575}"/>
</p:tagLst>
</file>

<file path=ppt/tags/tag27.xml><?xml version="1.0" encoding="utf-8"?>
<p:tagLst xmlns:p="http://schemas.openxmlformats.org/presentationml/2006/main">
  <p:tag name="KSO_WM_DIAGRAM_VIRTUALLY_FRAME" val="{&quot;height&quot;:393.9996850393701,&quot;left&quot;:51.999921259842516,&quot;top&quot;:89.00031496062992,&quot;width&quot;:855.0000787401575}"/>
</p:tagLst>
</file>

<file path=ppt/tags/tag28.xml><?xml version="1.0" encoding="utf-8"?>
<p:tagLst xmlns:p="http://schemas.openxmlformats.org/presentationml/2006/main">
  <p:tag name="KSO_WM_DIAGRAM_VIRTUALLY_FRAME" val="{&quot;height&quot;:393.9996850393701,&quot;left&quot;:51.999921259842516,&quot;top&quot;:89.00031496062992,&quot;width&quot;:855.0000787401575}"/>
</p:tagLst>
</file>

<file path=ppt/tags/tag29.xml><?xml version="1.0" encoding="utf-8"?>
<p:tagLst xmlns:p="http://schemas.openxmlformats.org/presentationml/2006/main">
  <p:tag name="KSO_WM_DIAGRAM_VIRTUALLY_FRAME" val="{&quot;height&quot;:393.9996850393701,&quot;left&quot;:51.999921259842516,&quot;top&quot;:89.00031496062992,&quot;width&quot;:855.0000787401575}"/>
</p:tagLst>
</file>

<file path=ppt/tags/tag30.xml><?xml version="1.0" encoding="utf-8"?>
<p:tagLst xmlns:p="http://schemas.openxmlformats.org/presentationml/2006/main">
  <p:tag name="KSO_WM_DIAGRAM_VIRTUALLY_FRAME" val="{&quot;height&quot;:393.9996850393701,&quot;left&quot;:51.999921259842516,&quot;top&quot;:89.00031496062992,&quot;width&quot;:855.0000787401575}"/>
</p:tagLst>
</file>

<file path=ppt/tags/tag31.xml><?xml version="1.0" encoding="utf-8"?>
<p:tagLst xmlns:p="http://schemas.openxmlformats.org/presentationml/2006/main">
  <p:tag name="KSO_WM_DIAGRAM_VIRTUALLY_FRAME" val="{&quot;height&quot;:462.01669291338584,&quot;left&quot;:0,&quot;top&quot;:77.98330708661419,&quot;width&quot;:960}"/>
</p:tagLst>
</file>

<file path=ppt/tags/tag32.xml><?xml version="1.0" encoding="utf-8"?>
<p:tagLst xmlns:p="http://schemas.openxmlformats.org/presentationml/2006/main">
  <p:tag name="KSO_WM_DIAGRAM_VIRTUALLY_FRAME" val="{&quot;height&quot;:462.01669291338584,&quot;left&quot;:0,&quot;top&quot;:77.98330708661419,&quot;width&quot;:960}"/>
</p:tagLst>
</file>

<file path=ppt/tags/tag33.xml><?xml version="1.0" encoding="utf-8"?>
<p:tagLst xmlns:p="http://schemas.openxmlformats.org/presentationml/2006/main">
  <p:tag name="KSO_WM_DIAGRAM_VIRTUALLY_FRAME" val="{&quot;height&quot;:462.01669291338584,&quot;left&quot;:0,&quot;top&quot;:77.98330708661419,&quot;width&quot;:960}"/>
</p:tagLst>
</file>

<file path=ppt/tags/tag34.xml><?xml version="1.0" encoding="utf-8"?>
<p:tagLst xmlns:p="http://schemas.openxmlformats.org/presentationml/2006/main">
  <p:tag name="KSO_WM_DIAGRAM_VIRTUALLY_FRAME" val="{&quot;height&quot;:462.01669291338584,&quot;left&quot;:0,&quot;top&quot;:77.98330708661419,&quot;width&quot;:960}"/>
</p:tagLst>
</file>

<file path=ppt/tags/tag35.xml><?xml version="1.0" encoding="utf-8"?>
<p:tagLst xmlns:p="http://schemas.openxmlformats.org/presentationml/2006/main">
  <p:tag name="KSO_WM_DIAGRAM_VIRTUALLY_FRAME" val="{&quot;height&quot;:462.01669291338584,&quot;left&quot;:0,&quot;top&quot;:77.98330708661419,&quot;width&quot;:960}"/>
</p:tagLst>
</file>

<file path=ppt/tags/tag36.xml><?xml version="1.0" encoding="utf-8"?>
<p:tagLst xmlns:p="http://schemas.openxmlformats.org/presentationml/2006/main">
  <p:tag name="KSO_WM_DIAGRAM_VIRTUALLY_FRAME" val="{&quot;height&quot;:462.01669291338584,&quot;left&quot;:0,&quot;top&quot;:77.98330708661419,&quot;width&quot;:960}"/>
</p:tagLst>
</file>

<file path=ppt/tags/tag37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38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39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40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41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42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43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44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45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46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47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48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49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50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51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52.xml><?xml version="1.0" encoding="utf-8"?>
<p:tagLst xmlns:p="http://schemas.openxmlformats.org/presentationml/2006/main">
  <p:tag name="KSO_WM_DIAGRAM_VIRTUALLY_FRAME" val="{&quot;height&quot;:540,&quot;left&quot;:0,&quot;top&quot;:0,&quot;width&quot;:960}"/>
</p:tagLst>
</file>

<file path=ppt/tags/tag53.xml><?xml version="1.0" encoding="utf-8"?>
<p:tagLst xmlns:p="http://schemas.openxmlformats.org/presentationml/2006/main">
  <p:tag name="KSO_WM_DIAGRAM_VIRTUALLY_FRAME" val="{&quot;height&quot;:408.2033858267717,&quot;left&quot;:54.75,&quot;top&quot;:81.89826771653543,&quot;width&quot;:850.5}"/>
</p:tagLst>
</file>

<file path=ppt/tags/tag54.xml><?xml version="1.0" encoding="utf-8"?>
<p:tagLst xmlns:p="http://schemas.openxmlformats.org/presentationml/2006/main">
  <p:tag name="KSO_WM_DIAGRAM_VIRTUALLY_FRAME" val="{&quot;height&quot;:408.2033858267717,&quot;left&quot;:54.75,&quot;top&quot;:81.89826771653543,&quot;width&quot;:850.5}"/>
</p:tagLst>
</file>

<file path=ppt/tags/tag55.xml><?xml version="1.0" encoding="utf-8"?>
<p:tagLst xmlns:p="http://schemas.openxmlformats.org/presentationml/2006/main">
  <p:tag name="KSO_WM_DIAGRAM_VIRTUALLY_FRAME" val="{&quot;height&quot;:408.2033858267717,&quot;left&quot;:54.75,&quot;top&quot;:81.89826771653543,&quot;width&quot;:850.5}"/>
</p:tagLst>
</file>

<file path=ppt/tags/tag56.xml><?xml version="1.0" encoding="utf-8"?>
<p:tagLst xmlns:p="http://schemas.openxmlformats.org/presentationml/2006/main">
  <p:tag name="KSO_WM_DIAGRAM_VIRTUALLY_FRAME" val="{&quot;height&quot;:408.2033858267717,&quot;left&quot;:54.75,&quot;top&quot;:81.89826771653543,&quot;width&quot;:850.5}"/>
</p:tagLst>
</file>

<file path=ppt/tags/tag57.xml><?xml version="1.0" encoding="utf-8"?>
<p:tagLst xmlns:p="http://schemas.openxmlformats.org/presentationml/2006/main">
  <p:tag name="KSO_WM_DIAGRAM_VIRTUALLY_FRAME" val="{&quot;height&quot;:408.2033858267717,&quot;left&quot;:54.75,&quot;top&quot;:81.89826771653543,&quot;width&quot;:850.5}"/>
</p:tagLst>
</file>

<file path=ppt/tags/tag58.xml><?xml version="1.0" encoding="utf-8"?>
<p:tagLst xmlns:p="http://schemas.openxmlformats.org/presentationml/2006/main">
  <p:tag name="KSO_WM_DIAGRAM_VIRTUALLY_FRAME" val="{&quot;height&quot;:408.2033858267717,&quot;left&quot;:54.75,&quot;top&quot;:81.89826771653543,&quot;width&quot;:850.5}"/>
</p:tagLst>
</file>

<file path=ppt/tags/tag59.xml><?xml version="1.0" encoding="utf-8"?>
<p:tagLst xmlns:p="http://schemas.openxmlformats.org/presentationml/2006/main">
  <p:tag name="KSO_WM_DIAGRAM_VIRTUALLY_FRAME" val="{&quot;height&quot;:408.2033858267717,&quot;left&quot;:54.75,&quot;top&quot;:81.89826771653543,&quot;width&quot;:850.5}"/>
</p:tagLst>
</file>

<file path=ppt/tags/tag60.xml><?xml version="1.0" encoding="utf-8"?>
<p:tagLst xmlns:p="http://schemas.openxmlformats.org/presentationml/2006/main">
  <p:tag name="KSO_WM_DIAGRAM_VIRTUALLY_FRAME" val="{&quot;height&quot;:408.2033858267717,&quot;left&quot;:54.75,&quot;top&quot;:81.89826771653543,&quot;width&quot;:850.5}"/>
</p:tagLst>
</file>

<file path=ppt/tags/tag61.xml><?xml version="1.0" encoding="utf-8"?>
<p:tagLst xmlns:p="http://schemas.openxmlformats.org/presentationml/2006/main">
  <p:tag name="KSO_WM_DIAGRAM_VIRTUALLY_FRAME" val="{&quot;height&quot;:408.2033858267717,&quot;left&quot;:54.75,&quot;top&quot;:81.89826771653543,&quot;width&quot;:850.5}"/>
</p:tagLst>
</file>

<file path=ppt/tags/tag62.xml><?xml version="1.0" encoding="utf-8"?>
<p:tagLst xmlns:p="http://schemas.openxmlformats.org/presentationml/2006/main">
  <p:tag name="KSO_WM_DIAGRAM_VIRTUALLY_FRAME" val="{&quot;height&quot;:408.2033858267717,&quot;left&quot;:54.75,&quot;top&quot;:81.89826771653543,&quot;width&quot;:850.5}"/>
</p:tagLst>
</file>

<file path=ppt/tags/tag63.xml><?xml version="1.0" encoding="utf-8"?>
<p:tagLst xmlns:p="http://schemas.openxmlformats.org/presentationml/2006/main">
  <p:tag name="KSO_WM_DIAGRAM_VIRTUALLY_FRAME" val="{&quot;height&quot;:462.01669291338584,&quot;left&quot;:0,&quot;top&quot;:77.98330708661419,&quot;width&quot;:960}"/>
</p:tagLst>
</file>

<file path=ppt/tags/tag64.xml><?xml version="1.0" encoding="utf-8"?>
<p:tagLst xmlns:p="http://schemas.openxmlformats.org/presentationml/2006/main">
  <p:tag name="KSO_WM_DIAGRAM_VIRTUALLY_FRAME" val="{&quot;height&quot;:462.01669291338584,&quot;left&quot;:0,&quot;top&quot;:77.98330708661419,&quot;width&quot;:960}"/>
</p:tagLst>
</file>

<file path=ppt/tags/tag65.xml><?xml version="1.0" encoding="utf-8"?>
<p:tagLst xmlns:p="http://schemas.openxmlformats.org/presentationml/2006/main">
  <p:tag name="KSO_WM_DIAGRAM_VIRTUALLY_FRAME" val="{&quot;height&quot;:462.01669291338584,&quot;left&quot;:0,&quot;top&quot;:77.98330708661419,&quot;width&quot;:960}"/>
</p:tagLst>
</file>

<file path=ppt/tags/tag66.xml><?xml version="1.0" encoding="utf-8"?>
<p:tagLst xmlns:p="http://schemas.openxmlformats.org/presentationml/2006/main">
  <p:tag name="KSO_WM_DIAGRAM_VIRTUALLY_FRAME" val="{&quot;height&quot;:462.01669291338584,&quot;left&quot;:0,&quot;top&quot;:77.98330708661419,&quot;width&quot;:960}"/>
</p:tagLst>
</file>

<file path=ppt/tags/tag67.xml><?xml version="1.0" encoding="utf-8"?>
<p:tagLst xmlns:p="http://schemas.openxmlformats.org/presentationml/2006/main">
  <p:tag name="KSO_WM_DIAGRAM_VIRTUALLY_FRAME" val="{&quot;height&quot;:393.99992125984244,&quot;left&quot;:52,&quot;top&quot;:89,&quot;width&quot;:855}"/>
</p:tagLst>
</file>

<file path=ppt/tags/tag68.xml><?xml version="1.0" encoding="utf-8"?>
<p:tagLst xmlns:p="http://schemas.openxmlformats.org/presentationml/2006/main">
  <p:tag name="KSO_WM_DIAGRAM_VIRTUALLY_FRAME" val="{&quot;height&quot;:393.99992125984244,&quot;left&quot;:52,&quot;top&quot;:89,&quot;width&quot;:855}"/>
</p:tagLst>
</file>

<file path=ppt/tags/tag69.xml><?xml version="1.0" encoding="utf-8"?>
<p:tagLst xmlns:p="http://schemas.openxmlformats.org/presentationml/2006/main">
  <p:tag name="KSO_WM_DIAGRAM_VIRTUALLY_FRAME" val="{&quot;height&quot;:393.99992125984244,&quot;left&quot;:52,&quot;top&quot;:89,&quot;width&quot;:855}"/>
</p:tagLst>
</file>

<file path=ppt/tags/tag70.xml><?xml version="1.0" encoding="utf-8"?>
<p:tagLst xmlns:p="http://schemas.openxmlformats.org/presentationml/2006/main">
  <p:tag name="KSO_WM_DIAGRAM_VIRTUALLY_FRAME" val="{&quot;height&quot;:393.99992125984244,&quot;left&quot;:52,&quot;top&quot;:89,&quot;width&quot;:855}"/>
</p:tagLst>
</file>

<file path=ppt/tags/tag71.xml><?xml version="1.0" encoding="utf-8"?>
<p:tagLst xmlns:p="http://schemas.openxmlformats.org/presentationml/2006/main">
  <p:tag name="KSO_WM_DIAGRAM_VIRTUALLY_FRAME" val="{&quot;height&quot;:393.99992125984244,&quot;left&quot;:52,&quot;top&quot;:89,&quot;width&quot;:855}"/>
</p:tagLst>
</file>

<file path=ppt/tags/tag72.xml><?xml version="1.0" encoding="utf-8"?>
<p:tagLst xmlns:p="http://schemas.openxmlformats.org/presentationml/2006/main">
  <p:tag name="KSO_WM_DIAGRAM_VIRTUALLY_FRAME" val="{&quot;height&quot;:393.99992125984244,&quot;left&quot;:52,&quot;top&quot;:89,&quot;width&quot;:855}"/>
</p:tagLst>
</file>

<file path=ppt/tags/tag73.xml><?xml version="1.0" encoding="utf-8"?>
<p:tagLst xmlns:p="http://schemas.openxmlformats.org/presentationml/2006/main">
  <p:tag name="KSO_WM_DIAGRAM_VIRTUALLY_FRAME" val="{&quot;height&quot;:393.99992125984244,&quot;left&quot;:52,&quot;top&quot;:89,&quot;width&quot;:855}"/>
</p:tagLst>
</file>

<file path=ppt/tags/tag74.xml><?xml version="1.0" encoding="utf-8"?>
<p:tagLst xmlns:p="http://schemas.openxmlformats.org/presentationml/2006/main">
  <p:tag name="KSO_WM_DIAGRAM_VIRTUALLY_FRAME" val="{&quot;height&quot;:393.99992125984244,&quot;left&quot;:52,&quot;top&quot;:89,&quot;width&quot;:855}"/>
</p:tagLst>
</file>

<file path=ppt/tags/tag75.xml><?xml version="1.0" encoding="utf-8"?>
<p:tagLst xmlns:p="http://schemas.openxmlformats.org/presentationml/2006/main">
  <p:tag name="KSO_WM_DIAGRAM_VIRTUALLY_FRAME" val="{&quot;height&quot;:393.99992125984244,&quot;left&quot;:52,&quot;top&quot;:89,&quot;width&quot;:855}"/>
</p:tagLst>
</file>

<file path=ppt/tags/tag76.xml><?xml version="1.0" encoding="utf-8"?>
<p:tagLst xmlns:p="http://schemas.openxmlformats.org/presentationml/2006/main">
  <p:tag name="KSO_WM_DIAGRAM_VIRTUALLY_FRAME" val="{&quot;height&quot;:393.99992125984244,&quot;left&quot;:52,&quot;top&quot;:89,&quot;width&quot;:855}"/>
</p:tagLst>
</file>

<file path=ppt/tags/tag77.xml><?xml version="1.0" encoding="utf-8"?>
<p:tagLst xmlns:p="http://schemas.openxmlformats.org/presentationml/2006/main">
  <p:tag name="KSO_WM_DIAGRAM_VIRTUALLY_FRAME" val="{&quot;height&quot;:393.99992125984244,&quot;left&quot;:52,&quot;top&quot;:89,&quot;width&quot;:855}"/>
</p:tagLst>
</file>

<file path=ppt/tags/tag78.xml><?xml version="1.0" encoding="utf-8"?>
<p:tagLst xmlns:p="http://schemas.openxmlformats.org/presentationml/2006/main">
  <p:tag name="KSO_WM_DIAGRAM_VIRTUALLY_FRAME" val="{&quot;height&quot;:393.99992125984244,&quot;left&quot;:52,&quot;top&quot;:89,&quot;width&quot;:855}"/>
</p:tagLst>
</file>

<file path=ppt/tags/tag79.xml><?xml version="1.0" encoding="utf-8"?>
<p:tagLst xmlns:p="http://schemas.openxmlformats.org/presentationml/2006/main">
  <p:tag name="KSO_WM_DIAGRAM_VIRTUALLY_FRAME" val="{&quot;height&quot;:393.99992125984244,&quot;left&quot;:52,&quot;top&quot;:89,&quot;width&quot;:855}"/>
</p:tagLst>
</file>

<file path=ppt/tags/tag80.xml><?xml version="1.0" encoding="utf-8"?>
<p:tagLst xmlns:p="http://schemas.openxmlformats.org/presentationml/2006/main">
  <p:tag name="KSO_WM_DIAGRAM_VIRTUALLY_FRAME" val="{&quot;height&quot;:393.99992125984244,&quot;left&quot;:52,&quot;top&quot;:89,&quot;width&quot;:855}"/>
</p:tagLst>
</file>

<file path=ppt/tags/tag81.xml><?xml version="1.0" encoding="utf-8"?>
<p:tagLst xmlns:p="http://schemas.openxmlformats.org/presentationml/2006/main">
  <p:tag name="KSO_WM_DIAGRAM_VIRTUALLY_FRAME" val="{&quot;height&quot;:393.99992125984244,&quot;left&quot;:52,&quot;top&quot;:89,&quot;width&quot;:855}"/>
</p:tagLst>
</file>

<file path=ppt/tags/tag82.xml><?xml version="1.0" encoding="utf-8"?>
<p:tagLst xmlns:p="http://schemas.openxmlformats.org/presentationml/2006/main">
  <p:tag name="KSO_WM_DIAGRAM_VIRTUALLY_FRAME" val="{&quot;height&quot;:393.99992125984244,&quot;left&quot;:52,&quot;top&quot;:89,&quot;width&quot;:855}"/>
</p:tagLst>
</file>

<file path=ppt/tags/tag83.xml><?xml version="1.0" encoding="utf-8"?>
<p:tagLst xmlns:p="http://schemas.openxmlformats.org/presentationml/2006/main">
  <p:tag name="KSO_WM_DIAGRAM_VIRTUALLY_FRAME" val="{&quot;height&quot;:393.99992125984244,&quot;left&quot;:52,&quot;top&quot;:89,&quot;width&quot;:855}"/>
</p:tagLst>
</file>

<file path=ppt/tags/tag84.xml><?xml version="1.0" encoding="utf-8"?>
<p:tagLst xmlns:p="http://schemas.openxmlformats.org/presentationml/2006/main">
  <p:tag name="KSO_WM_DIAGRAM_VIRTUALLY_FRAME" val="{&quot;height&quot;:393.99992125984244,&quot;left&quot;:52,&quot;top&quot;:89,&quot;width&quot;:855}"/>
</p:tagLst>
</file>

<file path=ppt/tags/tag85.xml><?xml version="1.0" encoding="utf-8"?>
<p:tagLst xmlns:p="http://schemas.openxmlformats.org/presentationml/2006/main">
  <p:tag name="KSO_WM_DIAGRAM_VIRTUALLY_FRAME" val="{&quot;height&quot;:393.99992125984244,&quot;left&quot;:52,&quot;top&quot;:89,&quot;width&quot;:855}"/>
</p:tagLst>
</file>

<file path=ppt/tags/tag86.xml><?xml version="1.0" encoding="utf-8"?>
<p:tagLst xmlns:p="http://schemas.openxmlformats.org/presentationml/2006/main">
  <p:tag name="KSO_WM_DIAGRAM_VIRTUALLY_FRAME" val="{&quot;height&quot;:393.99992125984244,&quot;left&quot;:52,&quot;top&quot;:89,&quot;width&quot;:855}"/>
</p:tagLst>
</file>

<file path=ppt/tags/tag87.xml><?xml version="1.0" encoding="utf-8"?>
<p:tagLst xmlns:p="http://schemas.openxmlformats.org/presentationml/2006/main">
  <p:tag name="KSO_WM_DIAGRAM_VIRTUALLY_FRAME" val="{&quot;height&quot;:393.99992125984244,&quot;left&quot;:52,&quot;top&quot;:89,&quot;width&quot;:855}"/>
</p:tagLst>
</file>

<file path=ppt/theme/theme1.xml><?xml version="1.0" encoding="utf-8"?>
<a:theme xmlns:a="http://schemas.openxmlformats.org/drawingml/2006/main" name="0ffb8cde-6ba5-4ed6-aab4-24f2d47fde1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2362</Words>
  <Application>WPS 演示</Application>
  <PresentationFormat>On-screen Show (4:3)</PresentationFormat>
  <Paragraphs>299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Arial</vt:lpstr>
      <vt:lpstr>Calibri</vt:lpstr>
      <vt:lpstr>Arial Unicode MS</vt:lpstr>
      <vt:lpstr>0ffb8cde-6ba5-4ed6-aab4-24f2d47fde1d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张馨夫</cp:lastModifiedBy>
  <cp:revision>42</cp:revision>
  <dcterms:created xsi:type="dcterms:W3CDTF">2006-08-16T00:00:00Z</dcterms:created>
  <dcterms:modified xsi:type="dcterms:W3CDTF">2026-06-03T12:03:27Z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1C4581206EF541008BF5DC0CF0CD5DFB_12</vt:lpwstr>
  </property>
</Properties>
</file>